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Hello, my name is Juan Carlos Madrid, student ID G271958. This is my summative project for CPU4104 Web Development: Sol and Sombra, a responsive e-commerce website for a Mediterranean sunglasses shop. It is built entirely with HTML, CSS and vanilla JavaScript using DOM manipulation only - no frameworks, no libraries, no backend, exactly as the brief requires. In the next ten minutes I will walk through the site, the code structure, and the reasoning behind my main design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The brief asks for a front-end solution for a small retailer: customers browse products, view details and manage a shopping basket. I chose a specialised sunglasses store. I picked this theme for three reasons: the products are highly visual which makes the design work meaningful; they split naturally into categories which gives my filter feature a purpose; and it let me build a coherent brand, Sol and Sombra, inspired by the Mediterranean coast. The headline numbers: five pages, twenty-five products including a new-season drop, three responsive breakpoints, and zero external libraries - everything is hand-written.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Here is the home page. The site has five pages sharing one header and footer, with my own logo built into every page. The home page opens with a hero banner and, further down, a short brand video I generated myself - twenty-five frames set to an original guitar soundtrack I composed and synthesised in code, so there are no copyright concerns anywhere in the project. Below that sit the featured products and three collection sections. The products page holds all twenty-five frames, including a New Season badge on the latest nine. The animated sun behind the hero is drawn in pure CSS with a repeating conic gradient - no image, which I will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For learning outcome one, my HTML is semantic rather than div-based. Every page uses header, nav, main and footer landmarks. Each product card is an article element because it is self-contained content. Collection images use figure and figcaption. The contact details sit in an address element. The navigation marks the current page with aria-current, which both styles the active link through an attribute selector and announces it to screen readers. There is no deprecated HTML and no HTML used for presentation - all styling lives in the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The CSS follows the mobile-first paradigm the brief requires. All base styles are written for small screens, then two min-width media queries at 600 and 900 pixels enhance the layout for tablet and desktop. The clearest example is the product grid: one column on phones, two on tablets, four on desktop - and because it uses CSS Grid, each breakpoint changes a single line. On mobile the navigation collapses into a menu button, and the header itself wraps gracefully down to very narrow phones. I also demonstrate the full range of selector techniques the brief lists: element, class and ID selectors, pseudo-classes like hover and focus-visible, pseudo-elements, and attribute selectors such as aria-current for the 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These five colours are the whole brand: whitewash, ink navy, azulejo blue, sun gold and sunset coral - a palette taken from the Spanish Mediterranean. They are defined once as CSS custom properties, so changing the brand means editing one block at the top of the stylesheet. My logo, a sun wearing round sunglasses, sits in the header of every page. My signature design element is the sun behind the hero: it is not an image but a repeating conic gradient rotated by a CSS animation, so it costs zero bytes of image weight. And to keep the whole project free of licensing concerns, every asset is either my own edited photography or fully self-generated - including the guitar soundtrack behind the collection video, which I synthesised programmatically rather than sourcing from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Now the JavaScript, learning outcome two. The basket follows a simple pipeline. First, every Add to Basket button carries its product data in HTML data attributes: id, name, price and image path. When clicked, the script reads those attributes and stores the item in a JSON array in localStorage - which is what lets the basket survive as the customer moves between separate pages. Finally, the basket page and the header badge are rebuilt from that stored data using DOM manipulation. Two decisions worth justifying: I use event delegation, a single click listener on the document that identifies buttons through their data-action attribute - fewer listeners, and it works for elements created after page load. And by keeping product data in the HTML rather than a JavaScript array, the HTML is the single source of truth: adding product twenty-six means adding one article block, with no script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Two more JavaScript features. The category filters enhance the static product grid: clicking Aviator compares each card's data-category attribute and hides the rest - about twelve lines of code. And the contact form has custom validation, shown here: the name must be at least two characters, the email is checked against a regular expression, and the message needs at least ten characters. Errors appear inline next to each field inside aria-live regions, which means screen readers announce them as they appear - validation that is also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Accessibility was designed in, not added at the end. Every image has descriptive alt text. Keyboard users get a skip-to-content link and visible focus outlines. ARIA attributes label the icon buttons, make the basket a live region, and report the mobile menu state. Colour contrast was checked for the navy-on-white palette, and animation respects prefers-reduced-motion. For evidence, I followed the workflow the brief specifies: I ran a Chrome Lighthouse audit, found two real issues - button accessible names not matching their visible text, and a skipped heading level - screenshotted them as my Problem evidence, fixed both, and re-audited. All five pages now score one hundred on Accessibility. [SHOW YOUR ACTUAL LIGHTHOUSE SCREENSHOTS ON SCREEN AT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For SEO, every page has a unique title and a hand-written meta description for its search snippet, plus Open Graph tags for social sharing. Each page has exactly one h1 with an ordered heading hierarchy, and product images are scaled for the web and lazy-loaded below the fold. For deployment, the project is hosted in a public GitHub repository with the folder structure the brief specifies, and published live through GitHub Pages. That matters practically too: features like the Lighthouse audit and the video element only behave correctly over real HTTP, not when opened as a local file - so the live GitHub Pages link is also my proof that everything works outside my own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Briefly, what this project taught me. Mobile-first turned out to genuinely simplify the CSS - the desktop version became a small enhancement rather than a fight. Event delegation made the JavaScript shorter and easier to maintain than one listener per button. And accessibility proved cheapest when considered from the first line rather than retrofitted. If I iterated, I would add richer product detail views, a validated checkout form reusing the contact form's pattern, and a search box beside the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To close: learning outcome one is met with valid semantic HTML and hand-written CSS; outcome two with the basket, filters and validation built purely through DOM manipulation; outcome three with a mobile-first layout across three breakpoints; and outcome four with accessibility, SEO, GitHub Pages deployment and the Lighthouse-audited improvements in my evidence folder. The full code is live on GitHub. Gracias -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A45"/>
        </a:solidFill>
      </p:bgPr>
    </p:bg>
    <p:spTree>
      <p:nvGrpSpPr>
        <p:cNvPr id="1" name=""/>
        <p:cNvGrpSpPr/>
        <p:nvPr/>
      </p:nvGrpSpPr>
      <p:grpSpPr>
        <a:xfrm>
          <a:off x="0" y="0"/>
          <a:ext cx="0" cy="0"/>
          <a:chOff x="0" y="0"/>
          <a:chExt cx="0" cy="0"/>
        </a:xfrm>
      </p:grpSpPr>
      <p:sp>
        <p:nvSpPr>
          <p:cNvPr id="2" name="Shape 0"/>
          <p:cNvSpPr/>
          <p:nvPr/>
        </p:nvSpPr>
        <p:spPr>
          <a:xfrm>
            <a:off x="6126480" y="-1463040"/>
            <a:ext cx="5120640" cy="5120640"/>
          </a:xfrm>
          <a:prstGeom prst="ellipse">
            <a:avLst/>
          </a:prstGeom>
          <a:solidFill>
            <a:srgbClr val="F4B331">
              <a:alpha val="18000"/>
            </a:srgbClr>
          </a:solidFill>
          <a:ln/>
        </p:spPr>
      </p:sp>
      <p:sp>
        <p:nvSpPr>
          <p:cNvPr id="3" name="Shape 1"/>
          <p:cNvSpPr/>
          <p:nvPr/>
        </p:nvSpPr>
        <p:spPr>
          <a:xfrm>
            <a:off x="6858000" y="-731520"/>
            <a:ext cx="3657600" cy="3657600"/>
          </a:xfrm>
          <a:prstGeom prst="ellipse">
            <a:avLst/>
          </a:prstGeom>
          <a:solidFill>
            <a:srgbClr val="F4B331">
              <a:alpha val="35000"/>
            </a:srgbClr>
          </a:solidFill>
          <a:ln/>
        </p:spPr>
      </p:sp>
      <p:sp>
        <p:nvSpPr>
          <p:cNvPr id="4" name="Shape 2"/>
          <p:cNvSpPr/>
          <p:nvPr/>
        </p:nvSpPr>
        <p:spPr>
          <a:xfrm>
            <a:off x="7498080" y="-91440"/>
            <a:ext cx="2377440" cy="2377440"/>
          </a:xfrm>
          <a:prstGeom prst="ellipse">
            <a:avLst/>
          </a:prstGeom>
          <a:solidFill>
            <a:srgbClr val="F4B331"/>
          </a:solidFill>
          <a:ln/>
        </p:spPr>
      </p:sp>
      <p:pic>
        <p:nvPicPr>
          <p:cNvPr id="5" name="Image 0" descr="sol-y-sombra/media/logo.png">    </p:cNvPr>
          <p:cNvPicPr>
            <a:picLocks noChangeAspect="1"/>
          </p:cNvPicPr>
          <p:nvPr/>
        </p:nvPicPr>
        <p:blipFill>
          <a:blip r:embed="rId1"/>
          <a:stretch>
            <a:fillRect/>
          </a:stretch>
        </p:blipFill>
        <p:spPr>
          <a:xfrm>
            <a:off x="548640" y="960120"/>
            <a:ext cx="1371600" cy="603504"/>
          </a:xfrm>
          <a:prstGeom prst="rect">
            <a:avLst/>
          </a:prstGeom>
        </p:spPr>
      </p:pic>
      <p:sp>
        <p:nvSpPr>
          <p:cNvPr id="6" name="Text 3"/>
          <p:cNvSpPr/>
          <p:nvPr/>
        </p:nvSpPr>
        <p:spPr>
          <a:xfrm>
            <a:off x="548640" y="1627632"/>
            <a:ext cx="68580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SOL &amp; SOMBRA</a:t>
            </a:r>
            <a:endParaRPr lang="en-US" sz="4400" dirty="0"/>
          </a:p>
        </p:txBody>
      </p:sp>
      <p:sp>
        <p:nvSpPr>
          <p:cNvPr id="7" name="Text 4"/>
          <p:cNvSpPr/>
          <p:nvPr/>
        </p:nvSpPr>
        <p:spPr>
          <a:xfrm>
            <a:off x="548640" y="2468880"/>
            <a:ext cx="658368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 responsive sunglasses e-commerce website</a:t>
            </a:r>
            <a:endParaRPr lang="en-US" sz="1800" dirty="0"/>
          </a:p>
          <a:p>
            <a:pPr indent="0" marL="0">
              <a:buNone/>
            </a:pPr>
            <a:r>
              <a:rPr lang="en-US" sz="1800" dirty="0">
                <a:solidFill>
                  <a:srgbClr val="CADCFC"/>
                </a:solidFill>
                <a:latin typeface="Calibri" pitchFamily="34" charset="0"/>
                <a:ea typeface="Calibri" pitchFamily="34" charset="-122"/>
                <a:cs typeface="Calibri" pitchFamily="34" charset="-120"/>
              </a:rPr>
              <a:t>HTML · CSS · JavaScript (DOM manipulation only)</a:t>
            </a:r>
            <a:endParaRPr lang="en-US" sz="1800" dirty="0"/>
          </a:p>
        </p:txBody>
      </p:sp>
      <p:sp>
        <p:nvSpPr>
          <p:cNvPr id="8" name="Text 5"/>
          <p:cNvSpPr/>
          <p:nvPr/>
        </p:nvSpPr>
        <p:spPr>
          <a:xfrm>
            <a:off x="548640" y="4160520"/>
            <a:ext cx="7772400" cy="640080"/>
          </a:xfrm>
          <a:prstGeom prst="rect">
            <a:avLst/>
          </a:prstGeom>
          <a:noFill/>
          <a:ln/>
        </p:spPr>
        <p:txBody>
          <a:bodyPr wrap="square" lIns="0" tIns="0" rIns="0" bIns="0" rtlCol="0" anchor="ctr"/>
          <a:lstStyle/>
          <a:p>
            <a:pPr indent="0" marL="0">
              <a:buNone/>
            </a:pPr>
            <a:r>
              <a:rPr lang="en-US" sz="1300" dirty="0">
                <a:solidFill>
                  <a:srgbClr val="F2EADB"/>
                </a:solidFill>
                <a:latin typeface="Calibri" pitchFamily="34" charset="0"/>
                <a:ea typeface="Calibri" pitchFamily="34" charset="-122"/>
                <a:cs typeface="Calibri" pitchFamily="34" charset="-120"/>
              </a:rPr>
              <a:t>CPU4104-20C Web Development — Summative Assessment (S1)</a:t>
            </a:r>
            <a:endParaRPr lang="en-US" sz="1300" dirty="0"/>
          </a:p>
          <a:p>
            <a:pPr indent="0" marL="0">
              <a:buNone/>
            </a:pPr>
            <a:r>
              <a:rPr lang="en-US" sz="1300" dirty="0">
                <a:solidFill>
                  <a:srgbClr val="F2EADB"/>
                </a:solidFill>
                <a:latin typeface="Calibri" pitchFamily="34" charset="0"/>
                <a:ea typeface="Calibri" pitchFamily="34" charset="-122"/>
                <a:cs typeface="Calibri" pitchFamily="34" charset="-120"/>
              </a:rPr>
              <a:t>Juan Carlos Madrid · Student ID G271958 · Global Banking School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THE BRIEF</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Scenario &amp; theme choice</a:t>
            </a:r>
            <a:endParaRPr lang="en-US" sz="3000" dirty="0"/>
          </a:p>
        </p:txBody>
      </p:sp>
      <p:sp>
        <p:nvSpPr>
          <p:cNvPr id="4" name="Text 2"/>
          <p:cNvSpPr/>
          <p:nvPr/>
        </p:nvSpPr>
        <p:spPr>
          <a:xfrm>
            <a:off x="457200" y="1417320"/>
            <a:ext cx="4754880" cy="3291840"/>
          </a:xfrm>
          <a:prstGeom prst="rect">
            <a:avLst/>
          </a:prstGeom>
          <a:noFill/>
          <a:ln/>
        </p:spPr>
        <p:txBody>
          <a:bodyPr wrap="square" lIns="0" tIns="0" rIns="0" bIns="0" rtlCol="0" anchor="ctr"/>
          <a:lstStyle/>
          <a:p>
            <a:pPr marL="152400" indent="-152400">
              <a:spcAft>
                <a:spcPts val="1000"/>
              </a:spcAft>
              <a:buSzPct val="100000"/>
              <a:buChar char="•"/>
            </a:pPr>
            <a:r>
              <a:rPr lang="en-US" sz="1400" dirty="0">
                <a:solidFill>
                  <a:srgbClr val="182A45"/>
                </a:solidFill>
                <a:latin typeface="Calibri" pitchFamily="34" charset="0"/>
                <a:ea typeface="Calibri" pitchFamily="34" charset="-122"/>
                <a:cs typeface="Calibri" pitchFamily="34" charset="-120"/>
              </a:rPr>
              <a:t>Scenario: a small retail business needs an online presence to browse products, view details and manage a basket.</a:t>
            </a:r>
            <a:endParaRPr lang="en-US" sz="1400" dirty="0"/>
          </a:p>
          <a:p>
            <a:pPr marL="152400" indent="-152400">
              <a:spcAft>
                <a:spcPts val="1000"/>
              </a:spcAft>
              <a:buSzPct val="100000"/>
              <a:buChar char="•"/>
            </a:pPr>
            <a:r>
              <a:rPr lang="en-US" sz="1400" dirty="0">
                <a:solidFill>
                  <a:srgbClr val="182A45"/>
                </a:solidFill>
                <a:latin typeface="Calibri" pitchFamily="34" charset="0"/>
                <a:ea typeface="Calibri" pitchFamily="34" charset="-122"/>
                <a:cs typeface="Calibri" pitchFamily="34" charset="-120"/>
              </a:rPr>
              <a:t>Chosen theme: Fashion accessories — a specialised sunglasses store.</a:t>
            </a:r>
            <a:endParaRPr lang="en-US" sz="1400" dirty="0"/>
          </a:p>
          <a:p>
            <a:pPr marL="152400" indent="-152400">
              <a:spcAft>
                <a:spcPts val="1000"/>
              </a:spcAft>
              <a:buSzPct val="100000"/>
              <a:buChar char="•"/>
            </a:pPr>
            <a:r>
              <a:rPr lang="en-US" sz="1400" dirty="0">
                <a:solidFill>
                  <a:srgbClr val="182A45"/>
                </a:solidFill>
                <a:latin typeface="Calibri" pitchFamily="34" charset="0"/>
                <a:ea typeface="Calibri" pitchFamily="34" charset="-122"/>
                <a:cs typeface="Calibri" pitchFamily="34" charset="-120"/>
              </a:rPr>
              <a:t>Why sunglasses: strong visual products, natural categories for filtering, and a coherent brand story (Mediterranean coast).</a:t>
            </a:r>
            <a:endParaRPr lang="en-US" sz="1400" dirty="0"/>
          </a:p>
          <a:p>
            <a:pPr marL="152400" indent="-152400">
              <a:spcAft>
                <a:spcPts val="1000"/>
              </a:spcAft>
              <a:buSzPct val="100000"/>
              <a:buChar char="•"/>
            </a:pPr>
            <a:r>
              <a:rPr lang="en-US" sz="1400" dirty="0">
                <a:solidFill>
                  <a:srgbClr val="182A45"/>
                </a:solidFill>
                <a:latin typeface="Calibri" pitchFamily="34" charset="0"/>
                <a:ea typeface="Calibri" pitchFamily="34" charset="-122"/>
                <a:cs typeface="Calibri" pitchFamily="34" charset="-120"/>
              </a:rPr>
              <a:t>Constraint respected: front-end only. No React, Vue, jQuery, Bootstrap — every line is my own HTML, CSS and JS.</a:t>
            </a:r>
            <a:endParaRPr lang="en-US" sz="1400" dirty="0"/>
          </a:p>
        </p:txBody>
      </p:sp>
      <p:sp>
        <p:nvSpPr>
          <p:cNvPr id="5" name="Shape 3"/>
          <p:cNvSpPr/>
          <p:nvPr/>
        </p:nvSpPr>
        <p:spPr>
          <a:xfrm>
            <a:off x="5577840" y="1554480"/>
            <a:ext cx="1508760" cy="1371600"/>
          </a:xfrm>
          <a:prstGeom prst="roundRect">
            <a:avLst>
              <a:gd name="adj" fmla="val 8000"/>
            </a:avLst>
          </a:prstGeom>
          <a:solidFill>
            <a:srgbClr val="F2EADB"/>
          </a:solidFill>
          <a:ln/>
        </p:spPr>
      </p:sp>
      <p:sp>
        <p:nvSpPr>
          <p:cNvPr id="6" name="Text 4"/>
          <p:cNvSpPr/>
          <p:nvPr/>
        </p:nvSpPr>
        <p:spPr>
          <a:xfrm>
            <a:off x="5577840" y="1691640"/>
            <a:ext cx="1508760" cy="731520"/>
          </a:xfrm>
          <a:prstGeom prst="rect">
            <a:avLst/>
          </a:prstGeom>
          <a:noFill/>
          <a:ln/>
        </p:spPr>
        <p:txBody>
          <a:bodyPr wrap="square" lIns="0" tIns="0" rIns="0" bIns="0" rtlCol="0" anchor="ctr"/>
          <a:lstStyle/>
          <a:p>
            <a:pPr algn="ctr" indent="0" marL="0">
              <a:buNone/>
            </a:pPr>
            <a:r>
              <a:rPr lang="en-US" sz="4000" b="1" dirty="0">
                <a:solidFill>
                  <a:srgbClr val="1D5BA6"/>
                </a:solidFill>
                <a:latin typeface="Arial" pitchFamily="34" charset="0"/>
                <a:ea typeface="Arial" pitchFamily="34" charset="-122"/>
                <a:cs typeface="Arial" pitchFamily="34" charset="-120"/>
              </a:rPr>
              <a:t>5</a:t>
            </a:r>
            <a:endParaRPr lang="en-US" sz="4000" dirty="0"/>
          </a:p>
        </p:txBody>
      </p:sp>
      <p:sp>
        <p:nvSpPr>
          <p:cNvPr id="7" name="Text 5"/>
          <p:cNvSpPr/>
          <p:nvPr/>
        </p:nvSpPr>
        <p:spPr>
          <a:xfrm>
            <a:off x="5577840" y="2423160"/>
            <a:ext cx="1508760" cy="320040"/>
          </a:xfrm>
          <a:prstGeom prst="rect">
            <a:avLst/>
          </a:prstGeom>
          <a:noFill/>
          <a:ln/>
        </p:spPr>
        <p:txBody>
          <a:bodyPr wrap="square" lIns="0" tIns="0" rIns="0" bIns="0" rtlCol="0" anchor="ctr"/>
          <a:lstStyle/>
          <a:p>
            <a:pPr algn="ctr" indent="0" marL="0">
              <a:buNone/>
            </a:pPr>
            <a:r>
              <a:rPr lang="en-US" sz="1300" dirty="0">
                <a:solidFill>
                  <a:srgbClr val="5A6678"/>
                </a:solidFill>
                <a:latin typeface="Calibri" pitchFamily="34" charset="0"/>
                <a:ea typeface="Calibri" pitchFamily="34" charset="-122"/>
                <a:cs typeface="Calibri" pitchFamily="34" charset="-120"/>
              </a:rPr>
              <a:t>pages</a:t>
            </a:r>
            <a:endParaRPr lang="en-US" sz="1300" dirty="0"/>
          </a:p>
        </p:txBody>
      </p:sp>
      <p:sp>
        <p:nvSpPr>
          <p:cNvPr id="8" name="Shape 6"/>
          <p:cNvSpPr/>
          <p:nvPr/>
        </p:nvSpPr>
        <p:spPr>
          <a:xfrm>
            <a:off x="7269480" y="1554480"/>
            <a:ext cx="1508760" cy="1371600"/>
          </a:xfrm>
          <a:prstGeom prst="roundRect">
            <a:avLst>
              <a:gd name="adj" fmla="val 8000"/>
            </a:avLst>
          </a:prstGeom>
          <a:solidFill>
            <a:srgbClr val="F2EADB"/>
          </a:solidFill>
          <a:ln/>
        </p:spPr>
      </p:sp>
      <p:sp>
        <p:nvSpPr>
          <p:cNvPr id="9" name="Text 7"/>
          <p:cNvSpPr/>
          <p:nvPr/>
        </p:nvSpPr>
        <p:spPr>
          <a:xfrm>
            <a:off x="7269480" y="1691640"/>
            <a:ext cx="1508760" cy="731520"/>
          </a:xfrm>
          <a:prstGeom prst="rect">
            <a:avLst/>
          </a:prstGeom>
          <a:noFill/>
          <a:ln/>
        </p:spPr>
        <p:txBody>
          <a:bodyPr wrap="square" lIns="0" tIns="0" rIns="0" bIns="0" rtlCol="0" anchor="ctr"/>
          <a:lstStyle/>
          <a:p>
            <a:pPr algn="ctr" indent="0" marL="0">
              <a:buNone/>
            </a:pPr>
            <a:r>
              <a:rPr lang="en-US" sz="4000" b="1" dirty="0">
                <a:solidFill>
                  <a:srgbClr val="1D5BA6"/>
                </a:solidFill>
                <a:latin typeface="Arial" pitchFamily="34" charset="0"/>
                <a:ea typeface="Arial" pitchFamily="34" charset="-122"/>
                <a:cs typeface="Arial" pitchFamily="34" charset="-120"/>
              </a:rPr>
              <a:t>25</a:t>
            </a:r>
            <a:endParaRPr lang="en-US" sz="4000" dirty="0"/>
          </a:p>
        </p:txBody>
      </p:sp>
      <p:sp>
        <p:nvSpPr>
          <p:cNvPr id="10" name="Text 8"/>
          <p:cNvSpPr/>
          <p:nvPr/>
        </p:nvSpPr>
        <p:spPr>
          <a:xfrm>
            <a:off x="7269480" y="2423160"/>
            <a:ext cx="1508760" cy="320040"/>
          </a:xfrm>
          <a:prstGeom prst="rect">
            <a:avLst/>
          </a:prstGeom>
          <a:noFill/>
          <a:ln/>
        </p:spPr>
        <p:txBody>
          <a:bodyPr wrap="square" lIns="0" tIns="0" rIns="0" bIns="0" rtlCol="0" anchor="ctr"/>
          <a:lstStyle/>
          <a:p>
            <a:pPr algn="ctr" indent="0" marL="0">
              <a:buNone/>
            </a:pPr>
            <a:r>
              <a:rPr lang="en-US" sz="1300" dirty="0">
                <a:solidFill>
                  <a:srgbClr val="5A6678"/>
                </a:solidFill>
                <a:latin typeface="Calibri" pitchFamily="34" charset="0"/>
                <a:ea typeface="Calibri" pitchFamily="34" charset="-122"/>
                <a:cs typeface="Calibri" pitchFamily="34" charset="-120"/>
              </a:rPr>
              <a:t>products</a:t>
            </a:r>
            <a:endParaRPr lang="en-US" sz="1300" dirty="0"/>
          </a:p>
        </p:txBody>
      </p:sp>
      <p:sp>
        <p:nvSpPr>
          <p:cNvPr id="11" name="Shape 9"/>
          <p:cNvSpPr/>
          <p:nvPr/>
        </p:nvSpPr>
        <p:spPr>
          <a:xfrm>
            <a:off x="5577840" y="3154680"/>
            <a:ext cx="1508760" cy="1371600"/>
          </a:xfrm>
          <a:prstGeom prst="roundRect">
            <a:avLst>
              <a:gd name="adj" fmla="val 8000"/>
            </a:avLst>
          </a:prstGeom>
          <a:solidFill>
            <a:srgbClr val="F2EADB"/>
          </a:solidFill>
          <a:ln/>
        </p:spPr>
      </p:sp>
      <p:sp>
        <p:nvSpPr>
          <p:cNvPr id="12" name="Text 10"/>
          <p:cNvSpPr/>
          <p:nvPr/>
        </p:nvSpPr>
        <p:spPr>
          <a:xfrm>
            <a:off x="5577840" y="3291840"/>
            <a:ext cx="1508760" cy="731520"/>
          </a:xfrm>
          <a:prstGeom prst="rect">
            <a:avLst/>
          </a:prstGeom>
          <a:noFill/>
          <a:ln/>
        </p:spPr>
        <p:txBody>
          <a:bodyPr wrap="square" lIns="0" tIns="0" rIns="0" bIns="0" rtlCol="0" anchor="ctr"/>
          <a:lstStyle/>
          <a:p>
            <a:pPr algn="ctr" indent="0" marL="0">
              <a:buNone/>
            </a:pPr>
            <a:r>
              <a:rPr lang="en-US" sz="4000" b="1" dirty="0">
                <a:solidFill>
                  <a:srgbClr val="1D5BA6"/>
                </a:solidFill>
                <a:latin typeface="Arial" pitchFamily="34" charset="0"/>
                <a:ea typeface="Arial" pitchFamily="34" charset="-122"/>
                <a:cs typeface="Arial" pitchFamily="34" charset="-120"/>
              </a:rPr>
              <a:t>0</a:t>
            </a:r>
            <a:endParaRPr lang="en-US" sz="4000" dirty="0"/>
          </a:p>
        </p:txBody>
      </p:sp>
      <p:sp>
        <p:nvSpPr>
          <p:cNvPr id="13" name="Text 11"/>
          <p:cNvSpPr/>
          <p:nvPr/>
        </p:nvSpPr>
        <p:spPr>
          <a:xfrm>
            <a:off x="5577840" y="4023360"/>
            <a:ext cx="1508760" cy="320040"/>
          </a:xfrm>
          <a:prstGeom prst="rect">
            <a:avLst/>
          </a:prstGeom>
          <a:noFill/>
          <a:ln/>
        </p:spPr>
        <p:txBody>
          <a:bodyPr wrap="square" lIns="0" tIns="0" rIns="0" bIns="0" rtlCol="0" anchor="ctr"/>
          <a:lstStyle/>
          <a:p>
            <a:pPr algn="ctr" indent="0" marL="0">
              <a:buNone/>
            </a:pPr>
            <a:r>
              <a:rPr lang="en-US" sz="1300" dirty="0">
                <a:solidFill>
                  <a:srgbClr val="5A6678"/>
                </a:solidFill>
                <a:latin typeface="Calibri" pitchFamily="34" charset="0"/>
                <a:ea typeface="Calibri" pitchFamily="34" charset="-122"/>
                <a:cs typeface="Calibri" pitchFamily="34" charset="-120"/>
              </a:rPr>
              <a:t>libraries</a:t>
            </a:r>
            <a:endParaRPr lang="en-US" sz="1300" dirty="0"/>
          </a:p>
        </p:txBody>
      </p:sp>
      <p:sp>
        <p:nvSpPr>
          <p:cNvPr id="14" name="Shape 12"/>
          <p:cNvSpPr/>
          <p:nvPr/>
        </p:nvSpPr>
        <p:spPr>
          <a:xfrm>
            <a:off x="7269480" y="3154680"/>
            <a:ext cx="1508760" cy="1371600"/>
          </a:xfrm>
          <a:prstGeom prst="roundRect">
            <a:avLst>
              <a:gd name="adj" fmla="val 8000"/>
            </a:avLst>
          </a:prstGeom>
          <a:solidFill>
            <a:srgbClr val="F2EADB"/>
          </a:solidFill>
          <a:ln/>
        </p:spPr>
      </p:sp>
      <p:sp>
        <p:nvSpPr>
          <p:cNvPr id="15" name="Text 13"/>
          <p:cNvSpPr/>
          <p:nvPr/>
        </p:nvSpPr>
        <p:spPr>
          <a:xfrm>
            <a:off x="7269480" y="3291840"/>
            <a:ext cx="1508760" cy="731520"/>
          </a:xfrm>
          <a:prstGeom prst="rect">
            <a:avLst/>
          </a:prstGeom>
          <a:noFill/>
          <a:ln/>
        </p:spPr>
        <p:txBody>
          <a:bodyPr wrap="square" lIns="0" tIns="0" rIns="0" bIns="0" rtlCol="0" anchor="ctr"/>
          <a:lstStyle/>
          <a:p>
            <a:pPr algn="ctr" indent="0" marL="0">
              <a:buNone/>
            </a:pPr>
            <a:r>
              <a:rPr lang="en-US" sz="4000" b="1" dirty="0">
                <a:solidFill>
                  <a:srgbClr val="1D5BA6"/>
                </a:solidFill>
                <a:latin typeface="Arial" pitchFamily="34" charset="0"/>
                <a:ea typeface="Arial" pitchFamily="34" charset="-122"/>
                <a:cs typeface="Arial" pitchFamily="34" charset="-120"/>
              </a:rPr>
              <a:t>3</a:t>
            </a:r>
            <a:endParaRPr lang="en-US" sz="4000" dirty="0"/>
          </a:p>
        </p:txBody>
      </p:sp>
      <p:sp>
        <p:nvSpPr>
          <p:cNvPr id="16" name="Text 14"/>
          <p:cNvSpPr/>
          <p:nvPr/>
        </p:nvSpPr>
        <p:spPr>
          <a:xfrm>
            <a:off x="7269480" y="4023360"/>
            <a:ext cx="1508760" cy="320040"/>
          </a:xfrm>
          <a:prstGeom prst="rect">
            <a:avLst/>
          </a:prstGeom>
          <a:noFill/>
          <a:ln/>
        </p:spPr>
        <p:txBody>
          <a:bodyPr wrap="square" lIns="0" tIns="0" rIns="0" bIns="0" rtlCol="0" anchor="ctr"/>
          <a:lstStyle/>
          <a:p>
            <a:pPr algn="ctr" indent="0" marL="0">
              <a:buNone/>
            </a:pPr>
            <a:r>
              <a:rPr lang="en-US" sz="1300" dirty="0">
                <a:solidFill>
                  <a:srgbClr val="5A6678"/>
                </a:solidFill>
                <a:latin typeface="Calibri" pitchFamily="34" charset="0"/>
                <a:ea typeface="Calibri" pitchFamily="34" charset="-122"/>
                <a:cs typeface="Calibri" pitchFamily="34" charset="-120"/>
              </a:rPr>
              <a:t>breakpoints</a:t>
            </a:r>
            <a:endParaRPr lang="en-US" sz="1300" dirty="0"/>
          </a:p>
        </p:txBody>
      </p:sp>
      <p:sp>
        <p:nvSpPr>
          <p:cNvPr id="17" name="Text 15"/>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THE WEBSITE</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Five pages, one consistent brand</a:t>
            </a:r>
            <a:endParaRPr lang="en-US" sz="3000" dirty="0"/>
          </a:p>
        </p:txBody>
      </p:sp>
      <p:pic>
        <p:nvPicPr>
          <p:cNvPr id="4" name="Image 0" descr="pres-home.png">    </p:cNvPr>
          <p:cNvPicPr>
            <a:picLocks noChangeAspect="1"/>
          </p:cNvPicPr>
          <p:nvPr/>
        </p:nvPicPr>
        <p:blipFill>
          <a:blip r:embed="rId1"/>
          <a:stretch>
            <a:fillRect/>
          </a:stretch>
        </p:blipFill>
        <p:spPr>
          <a:xfrm>
            <a:off x="4160520" y="1280160"/>
            <a:ext cx="4617720" cy="3108960"/>
          </a:xfrm>
          <a:prstGeom prst="rect">
            <a:avLst/>
          </a:prstGeom>
          <a:effectLst>
            <a:outerShdw sx="100000" sy="100000" kx="0" ky="0" algn="bl" rotWithShape="0" blurRad="101600" dist="38100" dir="5400000">
              <a:srgbClr val="000000">
                <a:alpha val="35000"/>
              </a:srgbClr>
            </a:outerShdw>
          </a:effectLst>
        </p:spPr>
      </p:pic>
      <p:sp>
        <p:nvSpPr>
          <p:cNvPr id="5" name="Text 2"/>
          <p:cNvSpPr/>
          <p:nvPr/>
        </p:nvSpPr>
        <p:spPr>
          <a:xfrm>
            <a:off x="457200" y="1371600"/>
            <a:ext cx="3520440" cy="3291840"/>
          </a:xfrm>
          <a:prstGeom prst="rect">
            <a:avLst/>
          </a:prstGeom>
          <a:noFill/>
          <a:ln/>
        </p:spPr>
        <p:txBody>
          <a:bodyPr wrap="square" lIns="0" tIns="0" rIns="0" bIns="0" rtlCol="0" anchor="ctr"/>
          <a:lstStyle/>
          <a:p>
            <a:pPr marL="152400" indent="-152400">
              <a:spcAft>
                <a:spcPts val="1000"/>
              </a:spcAft>
              <a:buSzPct val="100000"/>
              <a:buChar char="•"/>
            </a:pPr>
            <a:r>
              <a:rPr lang="en-US" sz="1250" dirty="0">
                <a:solidFill>
                  <a:srgbClr val="182A45"/>
                </a:solidFill>
                <a:latin typeface="Calibri" pitchFamily="34" charset="0"/>
                <a:ea typeface="Calibri" pitchFamily="34" charset="-122"/>
                <a:cs typeface="Calibri" pitchFamily="34" charset="-120"/>
              </a:rPr>
              <a:t>index.html — hero banner, an original short brand video with a self-composed soundtrack, featured products, three collection sections.</a:t>
            </a:r>
            <a:endParaRPr lang="en-US" sz="1250" dirty="0"/>
          </a:p>
          <a:p>
            <a:pPr marL="152400" indent="-152400">
              <a:spcAft>
                <a:spcPts val="1000"/>
              </a:spcAft>
              <a:buSzPct val="100000"/>
              <a:buChar char="•"/>
            </a:pPr>
            <a:r>
              <a:rPr lang="en-US" sz="1250" dirty="0">
                <a:solidFill>
                  <a:srgbClr val="182A45"/>
                </a:solidFill>
                <a:latin typeface="Calibri" pitchFamily="34" charset="0"/>
                <a:ea typeface="Calibri" pitchFamily="34" charset="-122"/>
                <a:cs typeface="Calibri" pitchFamily="34" charset="-120"/>
              </a:rPr>
              <a:t>products.html — 25 product cards with live category filters, including a New Season badge.</a:t>
            </a:r>
            <a:endParaRPr lang="en-US" sz="1250" dirty="0"/>
          </a:p>
          <a:p>
            <a:pPr marL="152400" indent="-152400">
              <a:spcAft>
                <a:spcPts val="1000"/>
              </a:spcAft>
              <a:buSzPct val="100000"/>
              <a:buChar char="•"/>
            </a:pPr>
            <a:r>
              <a:rPr lang="en-US" sz="1250" dirty="0">
                <a:solidFill>
                  <a:srgbClr val="182A45"/>
                </a:solidFill>
                <a:latin typeface="Calibri" pitchFamily="34" charset="0"/>
                <a:ea typeface="Calibri" pitchFamily="34" charset="-122"/>
                <a:cs typeface="Calibri" pitchFamily="34" charset="-120"/>
              </a:rPr>
              <a:t>cart.html — quantities, removal and a dynamically calculated total.</a:t>
            </a:r>
            <a:endParaRPr lang="en-US" sz="1250" dirty="0"/>
          </a:p>
          <a:p>
            <a:pPr marL="152400" indent="-152400">
              <a:spcAft>
                <a:spcPts val="1000"/>
              </a:spcAft>
              <a:buSzPct val="100000"/>
              <a:buChar char="•"/>
            </a:pPr>
            <a:r>
              <a:rPr lang="en-US" sz="1250" dirty="0">
                <a:solidFill>
                  <a:srgbClr val="182A45"/>
                </a:solidFill>
                <a:latin typeface="Calibri" pitchFamily="34" charset="0"/>
                <a:ea typeface="Calibri" pitchFamily="34" charset="-122"/>
                <a:cs typeface="Calibri" pitchFamily="34" charset="-120"/>
              </a:rPr>
              <a:t>about.html &amp; contact.html — brand story, FAQ and a validated contact form.</a:t>
            </a:r>
            <a:endParaRPr lang="en-US" sz="1250" dirty="0"/>
          </a:p>
          <a:p>
            <a:pPr marL="152400" indent="-152400">
              <a:spcAft>
                <a:spcPts val="1000"/>
              </a:spcAft>
              <a:buSzPct val="100000"/>
              <a:buChar char="•"/>
            </a:pPr>
            <a:r>
              <a:rPr lang="en-US" sz="1250" dirty="0">
                <a:solidFill>
                  <a:srgbClr val="182A45"/>
                </a:solidFill>
                <a:latin typeface="Calibri" pitchFamily="34" charset="0"/>
                <a:ea typeface="Calibri" pitchFamily="34" charset="-122"/>
                <a:cs typeface="Calibri" pitchFamily="34" charset="-120"/>
              </a:rPr>
              <a:t>Persistent header: custom logo, navigation and a live basket counter on every page.</a:t>
            </a:r>
            <a:endParaRPr lang="en-US" sz="1250" dirty="0"/>
          </a:p>
        </p:txBody>
      </p:sp>
      <p:sp>
        <p:nvSpPr>
          <p:cNvPr id="6" name="Text 3"/>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LO1 · HTML</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Semantic structure, not divs</a:t>
            </a:r>
            <a:endParaRPr lang="en-US" sz="3000" dirty="0"/>
          </a:p>
        </p:txBody>
      </p:sp>
      <p:sp>
        <p:nvSpPr>
          <p:cNvPr id="4" name="Shape 2"/>
          <p:cNvSpPr/>
          <p:nvPr/>
        </p:nvSpPr>
        <p:spPr>
          <a:xfrm>
            <a:off x="457200" y="1444752"/>
            <a:ext cx="237744" cy="237744"/>
          </a:xfrm>
          <a:prstGeom prst="ellipse">
            <a:avLst/>
          </a:prstGeom>
          <a:solidFill>
            <a:srgbClr val="F4B331"/>
          </a:solidFill>
          <a:ln/>
        </p:spPr>
      </p:sp>
      <p:sp>
        <p:nvSpPr>
          <p:cNvPr id="5" name="Text 3"/>
          <p:cNvSpPr/>
          <p:nvPr/>
        </p:nvSpPr>
        <p:spPr>
          <a:xfrm>
            <a:off x="868680" y="1371600"/>
            <a:ext cx="2377440" cy="384048"/>
          </a:xfrm>
          <a:prstGeom prst="rect">
            <a:avLst/>
          </a:prstGeom>
          <a:noFill/>
          <a:ln/>
        </p:spPr>
        <p:txBody>
          <a:bodyPr wrap="square" lIns="0" tIns="0" rIns="0" bIns="0" rtlCol="0" anchor="ctr"/>
          <a:lstStyle/>
          <a:p>
            <a:pPr indent="0" marL="0">
              <a:buNone/>
            </a:pPr>
            <a:r>
              <a:rPr lang="en-US" sz="1400" b="1" dirty="0">
                <a:solidFill>
                  <a:srgbClr val="1D5BA6"/>
                </a:solidFill>
                <a:latin typeface="Courier New" pitchFamily="34" charset="0"/>
                <a:ea typeface="Courier New" pitchFamily="34" charset="-122"/>
                <a:cs typeface="Courier New" pitchFamily="34" charset="-120"/>
              </a:rPr>
              <a:t>&lt;header&gt; &lt;nav&gt;</a:t>
            </a:r>
            <a:endParaRPr lang="en-US" sz="1400" dirty="0"/>
          </a:p>
        </p:txBody>
      </p:sp>
      <p:sp>
        <p:nvSpPr>
          <p:cNvPr id="6" name="Text 4"/>
          <p:cNvSpPr/>
          <p:nvPr/>
        </p:nvSpPr>
        <p:spPr>
          <a:xfrm>
            <a:off x="3291840" y="1371600"/>
            <a:ext cx="5394960" cy="566928"/>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Site identity and navigation, with aria-current marking the active page</a:t>
            </a:r>
            <a:endParaRPr lang="en-US" sz="1300" dirty="0"/>
          </a:p>
        </p:txBody>
      </p:sp>
      <p:sp>
        <p:nvSpPr>
          <p:cNvPr id="7" name="Shape 5"/>
          <p:cNvSpPr/>
          <p:nvPr/>
        </p:nvSpPr>
        <p:spPr>
          <a:xfrm>
            <a:off x="457200" y="2139696"/>
            <a:ext cx="237744" cy="237744"/>
          </a:xfrm>
          <a:prstGeom prst="ellipse">
            <a:avLst/>
          </a:prstGeom>
          <a:solidFill>
            <a:srgbClr val="F4B331"/>
          </a:solidFill>
          <a:ln/>
        </p:spPr>
      </p:sp>
      <p:sp>
        <p:nvSpPr>
          <p:cNvPr id="8" name="Text 6"/>
          <p:cNvSpPr/>
          <p:nvPr/>
        </p:nvSpPr>
        <p:spPr>
          <a:xfrm>
            <a:off x="868680" y="2066544"/>
            <a:ext cx="2377440" cy="384048"/>
          </a:xfrm>
          <a:prstGeom prst="rect">
            <a:avLst/>
          </a:prstGeom>
          <a:noFill/>
          <a:ln/>
        </p:spPr>
        <p:txBody>
          <a:bodyPr wrap="square" lIns="0" tIns="0" rIns="0" bIns="0" rtlCol="0" anchor="ctr"/>
          <a:lstStyle/>
          <a:p>
            <a:pPr indent="0" marL="0">
              <a:buNone/>
            </a:pPr>
            <a:r>
              <a:rPr lang="en-US" sz="1400" b="1" dirty="0">
                <a:solidFill>
                  <a:srgbClr val="1D5BA6"/>
                </a:solidFill>
                <a:latin typeface="Courier New" pitchFamily="34" charset="0"/>
                <a:ea typeface="Courier New" pitchFamily="34" charset="-122"/>
                <a:cs typeface="Courier New" pitchFamily="34" charset="-120"/>
              </a:rPr>
              <a:t>&lt;main&gt; &lt;section&gt;</a:t>
            </a:r>
            <a:endParaRPr lang="en-US" sz="1400" dirty="0"/>
          </a:p>
        </p:txBody>
      </p:sp>
      <p:sp>
        <p:nvSpPr>
          <p:cNvPr id="9" name="Text 7"/>
          <p:cNvSpPr/>
          <p:nvPr/>
        </p:nvSpPr>
        <p:spPr>
          <a:xfrm>
            <a:off x="3291840" y="2066544"/>
            <a:ext cx="5394960" cy="566928"/>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One &lt;main&gt; per page; sections labelled with aria-labelledby headings</a:t>
            </a:r>
            <a:endParaRPr lang="en-US" sz="1300" dirty="0"/>
          </a:p>
        </p:txBody>
      </p:sp>
      <p:sp>
        <p:nvSpPr>
          <p:cNvPr id="10" name="Shape 8"/>
          <p:cNvSpPr/>
          <p:nvPr/>
        </p:nvSpPr>
        <p:spPr>
          <a:xfrm>
            <a:off x="457200" y="2834640"/>
            <a:ext cx="237744" cy="237744"/>
          </a:xfrm>
          <a:prstGeom prst="ellipse">
            <a:avLst/>
          </a:prstGeom>
          <a:solidFill>
            <a:srgbClr val="F4B331"/>
          </a:solidFill>
          <a:ln/>
        </p:spPr>
      </p:sp>
      <p:sp>
        <p:nvSpPr>
          <p:cNvPr id="11" name="Text 9"/>
          <p:cNvSpPr/>
          <p:nvPr/>
        </p:nvSpPr>
        <p:spPr>
          <a:xfrm>
            <a:off x="868680" y="2761488"/>
            <a:ext cx="2377440" cy="384048"/>
          </a:xfrm>
          <a:prstGeom prst="rect">
            <a:avLst/>
          </a:prstGeom>
          <a:noFill/>
          <a:ln/>
        </p:spPr>
        <p:txBody>
          <a:bodyPr wrap="square" lIns="0" tIns="0" rIns="0" bIns="0" rtlCol="0" anchor="ctr"/>
          <a:lstStyle/>
          <a:p>
            <a:pPr indent="0" marL="0">
              <a:buNone/>
            </a:pPr>
            <a:r>
              <a:rPr lang="en-US" sz="1400" b="1" dirty="0">
                <a:solidFill>
                  <a:srgbClr val="1D5BA6"/>
                </a:solidFill>
                <a:latin typeface="Courier New" pitchFamily="34" charset="0"/>
                <a:ea typeface="Courier New" pitchFamily="34" charset="-122"/>
                <a:cs typeface="Courier New" pitchFamily="34" charset="-120"/>
              </a:rPr>
              <a:t>&lt;article&gt;</a:t>
            </a:r>
            <a:endParaRPr lang="en-US" sz="1400" dirty="0"/>
          </a:p>
        </p:txBody>
      </p:sp>
      <p:sp>
        <p:nvSpPr>
          <p:cNvPr id="12" name="Text 10"/>
          <p:cNvSpPr/>
          <p:nvPr/>
        </p:nvSpPr>
        <p:spPr>
          <a:xfrm>
            <a:off x="3291840" y="2761488"/>
            <a:ext cx="5394960" cy="566928"/>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Each product card is a self-contained article</a:t>
            </a:r>
            <a:endParaRPr lang="en-US" sz="1300" dirty="0"/>
          </a:p>
        </p:txBody>
      </p:sp>
      <p:sp>
        <p:nvSpPr>
          <p:cNvPr id="13" name="Shape 11"/>
          <p:cNvSpPr/>
          <p:nvPr/>
        </p:nvSpPr>
        <p:spPr>
          <a:xfrm>
            <a:off x="457200" y="3529584"/>
            <a:ext cx="237744" cy="237744"/>
          </a:xfrm>
          <a:prstGeom prst="ellipse">
            <a:avLst/>
          </a:prstGeom>
          <a:solidFill>
            <a:srgbClr val="F4B331"/>
          </a:solidFill>
          <a:ln/>
        </p:spPr>
      </p:sp>
      <p:sp>
        <p:nvSpPr>
          <p:cNvPr id="14" name="Text 12"/>
          <p:cNvSpPr/>
          <p:nvPr/>
        </p:nvSpPr>
        <p:spPr>
          <a:xfrm>
            <a:off x="868680" y="3456432"/>
            <a:ext cx="2377440" cy="384048"/>
          </a:xfrm>
          <a:prstGeom prst="rect">
            <a:avLst/>
          </a:prstGeom>
          <a:noFill/>
          <a:ln/>
        </p:spPr>
        <p:txBody>
          <a:bodyPr wrap="square" lIns="0" tIns="0" rIns="0" bIns="0" rtlCol="0" anchor="ctr"/>
          <a:lstStyle/>
          <a:p>
            <a:pPr indent="0" marL="0">
              <a:buNone/>
            </a:pPr>
            <a:r>
              <a:rPr lang="en-US" sz="1400" b="1" dirty="0">
                <a:solidFill>
                  <a:srgbClr val="1D5BA6"/>
                </a:solidFill>
                <a:latin typeface="Courier New" pitchFamily="34" charset="0"/>
                <a:ea typeface="Courier New" pitchFamily="34" charset="-122"/>
                <a:cs typeface="Courier New" pitchFamily="34" charset="-120"/>
              </a:rPr>
              <a:t>&lt;figure&gt; &lt;figcaption&gt;</a:t>
            </a:r>
            <a:endParaRPr lang="en-US" sz="1400" dirty="0"/>
          </a:p>
        </p:txBody>
      </p:sp>
      <p:sp>
        <p:nvSpPr>
          <p:cNvPr id="15" name="Text 13"/>
          <p:cNvSpPr/>
          <p:nvPr/>
        </p:nvSpPr>
        <p:spPr>
          <a:xfrm>
            <a:off x="3291840" y="3456432"/>
            <a:ext cx="5394960" cy="566928"/>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Collection images carry visible captions</a:t>
            </a:r>
            <a:endParaRPr lang="en-US" sz="1300" dirty="0"/>
          </a:p>
        </p:txBody>
      </p:sp>
      <p:sp>
        <p:nvSpPr>
          <p:cNvPr id="16" name="Shape 14"/>
          <p:cNvSpPr/>
          <p:nvPr/>
        </p:nvSpPr>
        <p:spPr>
          <a:xfrm>
            <a:off x="457200" y="4224528"/>
            <a:ext cx="237744" cy="237744"/>
          </a:xfrm>
          <a:prstGeom prst="ellipse">
            <a:avLst/>
          </a:prstGeom>
          <a:solidFill>
            <a:srgbClr val="F4B331"/>
          </a:solidFill>
          <a:ln/>
        </p:spPr>
      </p:sp>
      <p:sp>
        <p:nvSpPr>
          <p:cNvPr id="17" name="Text 15"/>
          <p:cNvSpPr/>
          <p:nvPr/>
        </p:nvSpPr>
        <p:spPr>
          <a:xfrm>
            <a:off x="868680" y="4151376"/>
            <a:ext cx="2377440" cy="384048"/>
          </a:xfrm>
          <a:prstGeom prst="rect">
            <a:avLst/>
          </a:prstGeom>
          <a:noFill/>
          <a:ln/>
        </p:spPr>
        <p:txBody>
          <a:bodyPr wrap="square" lIns="0" tIns="0" rIns="0" bIns="0" rtlCol="0" anchor="ctr"/>
          <a:lstStyle/>
          <a:p>
            <a:pPr indent="0" marL="0">
              <a:buNone/>
            </a:pPr>
            <a:r>
              <a:rPr lang="en-US" sz="1400" b="1" dirty="0">
                <a:solidFill>
                  <a:srgbClr val="1D5BA6"/>
                </a:solidFill>
                <a:latin typeface="Courier New" pitchFamily="34" charset="0"/>
                <a:ea typeface="Courier New" pitchFamily="34" charset="-122"/>
                <a:cs typeface="Courier New" pitchFamily="34" charset="-120"/>
              </a:rPr>
              <a:t>&lt;footer&gt; &lt;address&gt;</a:t>
            </a:r>
            <a:endParaRPr lang="en-US" sz="1400" dirty="0"/>
          </a:p>
        </p:txBody>
      </p:sp>
      <p:sp>
        <p:nvSpPr>
          <p:cNvPr id="18" name="Text 16"/>
          <p:cNvSpPr/>
          <p:nvPr/>
        </p:nvSpPr>
        <p:spPr>
          <a:xfrm>
            <a:off x="3291840" y="4151376"/>
            <a:ext cx="5394960" cy="566928"/>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Contact details in the semantically correct element</a:t>
            </a:r>
            <a:endParaRPr lang="en-US" sz="1300" dirty="0"/>
          </a:p>
        </p:txBody>
      </p:sp>
      <p:sp>
        <p:nvSpPr>
          <p:cNvPr id="19" name="Text 17"/>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LO3 · CSS</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Mobile-first responsive design</a:t>
            </a:r>
            <a:endParaRPr lang="en-US" sz="3000" dirty="0"/>
          </a:p>
        </p:txBody>
      </p:sp>
      <p:pic>
        <p:nvPicPr>
          <p:cNvPr id="4" name="Image 0" descr="pres-mobile.png">    </p:cNvPr>
          <p:cNvPicPr>
            <a:picLocks noChangeAspect="1"/>
          </p:cNvPicPr>
          <p:nvPr/>
        </p:nvPicPr>
        <p:blipFill>
          <a:blip r:embed="rId1"/>
          <a:stretch>
            <a:fillRect/>
          </a:stretch>
        </p:blipFill>
        <p:spPr>
          <a:xfrm>
            <a:off x="6995160" y="1143000"/>
            <a:ext cx="1737360" cy="3474720"/>
          </a:xfrm>
          <a:prstGeom prst="rect">
            <a:avLst/>
          </a:prstGeom>
          <a:effectLst>
            <a:outerShdw sx="100000" sy="100000" kx="0" ky="0" algn="bl" rotWithShape="0" blurRad="101600" dist="38100" dir="5400000">
              <a:srgbClr val="000000">
                <a:alpha val="35000"/>
              </a:srgbClr>
            </a:outerShdw>
          </a:effectLst>
        </p:spPr>
      </p:pic>
      <p:sp>
        <p:nvSpPr>
          <p:cNvPr id="5" name="Text 2"/>
          <p:cNvSpPr/>
          <p:nvPr/>
        </p:nvSpPr>
        <p:spPr>
          <a:xfrm>
            <a:off x="457200" y="1325880"/>
            <a:ext cx="6126480" cy="3291840"/>
          </a:xfrm>
          <a:prstGeom prst="rect">
            <a:avLst/>
          </a:prstGeom>
          <a:noFill/>
          <a:ln/>
        </p:spPr>
        <p:txBody>
          <a:bodyPr wrap="square" lIns="0" tIns="0" rIns="0" bIns="0" rtlCol="0" anchor="ctr"/>
          <a:lstStyle/>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Base styles target mobile; two min-width media queries enhance upward: 600px (tablet) and 900px (desktop).</a:t>
            </a:r>
            <a:endParaRPr lang="en-US" sz="1300" dirty="0"/>
          </a:p>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Product grid: 1 column on phones, 2 on tablet, 4 on desktop — CSS Grid with a single rule change per breakpoint.</a:t>
            </a:r>
            <a:endParaRPr lang="en-US" sz="1300" dirty="0"/>
          </a:p>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Collapsible menu on small screens (JS toggles a class; CSS does the rest).</a:t>
            </a:r>
            <a:endParaRPr lang="en-US" sz="1300" dirty="0"/>
          </a:p>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Fluid type with clamp() on the hero; flexible images with max-width and height:auto.</a:t>
            </a:r>
            <a:endParaRPr lang="en-US" sz="1300" dirty="0"/>
          </a:p>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Selector range: element, class, ID, :hover, :focus-visible, :nth-of-type, ::before, ::marker, [aria-current], [type=email].</a:t>
            </a:r>
            <a:endParaRPr lang="en-US" sz="1300" dirty="0"/>
          </a:p>
        </p:txBody>
      </p:sp>
      <p:sp>
        <p:nvSpPr>
          <p:cNvPr id="6" name="Text 3"/>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DESIGN DECISIONS</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A brand, not a template</a:t>
            </a:r>
            <a:endParaRPr lang="en-US" sz="3000" dirty="0"/>
          </a:p>
        </p:txBody>
      </p:sp>
      <p:sp>
        <p:nvSpPr>
          <p:cNvPr id="4" name="Shape 2"/>
          <p:cNvSpPr/>
          <p:nvPr/>
        </p:nvSpPr>
        <p:spPr>
          <a:xfrm>
            <a:off x="457200" y="1417320"/>
            <a:ext cx="1508760" cy="1005840"/>
          </a:xfrm>
          <a:prstGeom prst="roundRect">
            <a:avLst>
              <a:gd name="adj" fmla="val 9091"/>
            </a:avLst>
          </a:prstGeom>
          <a:solidFill>
            <a:srgbClr val="FCFAF5"/>
          </a:solidFill>
          <a:ln w="12700">
            <a:solidFill>
              <a:srgbClr val="D8D2C4"/>
            </a:solidFill>
            <a:prstDash val="solid"/>
          </a:ln>
        </p:spPr>
      </p:sp>
      <p:sp>
        <p:nvSpPr>
          <p:cNvPr id="5" name="Text 3"/>
          <p:cNvSpPr/>
          <p:nvPr/>
        </p:nvSpPr>
        <p:spPr>
          <a:xfrm>
            <a:off x="457200" y="1481328"/>
            <a:ext cx="1508760" cy="365760"/>
          </a:xfrm>
          <a:prstGeom prst="rect">
            <a:avLst/>
          </a:prstGeom>
          <a:noFill/>
          <a:ln/>
        </p:spPr>
        <p:txBody>
          <a:bodyPr wrap="square" lIns="0" tIns="0" rIns="0" bIns="0" rtlCol="0" anchor="ctr"/>
          <a:lstStyle/>
          <a:p>
            <a:pPr algn="ctr" indent="0" marL="0">
              <a:buNone/>
            </a:pPr>
            <a:r>
              <a:rPr lang="en-US" sz="1100" b="1" dirty="0">
                <a:solidFill>
                  <a:srgbClr val="182A45"/>
                </a:solidFill>
                <a:latin typeface="Calibri" pitchFamily="34" charset="0"/>
                <a:ea typeface="Calibri" pitchFamily="34" charset="-122"/>
                <a:cs typeface="Calibri" pitchFamily="34" charset="-120"/>
              </a:rPr>
              <a:t>Cal white</a:t>
            </a:r>
            <a:endParaRPr lang="en-US" sz="1100" dirty="0"/>
          </a:p>
        </p:txBody>
      </p:sp>
      <p:sp>
        <p:nvSpPr>
          <p:cNvPr id="6" name="Text 4"/>
          <p:cNvSpPr/>
          <p:nvPr/>
        </p:nvSpPr>
        <p:spPr>
          <a:xfrm>
            <a:off x="457200" y="2011680"/>
            <a:ext cx="1508760" cy="320040"/>
          </a:xfrm>
          <a:prstGeom prst="rect">
            <a:avLst/>
          </a:prstGeom>
          <a:noFill/>
          <a:ln/>
        </p:spPr>
        <p:txBody>
          <a:bodyPr wrap="square" lIns="0" tIns="0" rIns="0" bIns="0" rtlCol="0" anchor="ctr"/>
          <a:lstStyle/>
          <a:p>
            <a:pPr algn="ctr" indent="0" marL="0">
              <a:buNone/>
            </a:pPr>
            <a:r>
              <a:rPr lang="en-US" sz="1000" dirty="0">
                <a:solidFill>
                  <a:srgbClr val="182A45"/>
                </a:solidFill>
                <a:latin typeface="Courier New" pitchFamily="34" charset="0"/>
                <a:ea typeface="Courier New" pitchFamily="34" charset="-122"/>
                <a:cs typeface="Courier New" pitchFamily="34" charset="-120"/>
              </a:rPr>
              <a:t>#FCFAF5</a:t>
            </a:r>
            <a:endParaRPr lang="en-US" sz="1000" dirty="0"/>
          </a:p>
        </p:txBody>
      </p:sp>
      <p:sp>
        <p:nvSpPr>
          <p:cNvPr id="7" name="Shape 5"/>
          <p:cNvSpPr/>
          <p:nvPr/>
        </p:nvSpPr>
        <p:spPr>
          <a:xfrm>
            <a:off x="2148840" y="1417320"/>
            <a:ext cx="1508760" cy="1005840"/>
          </a:xfrm>
          <a:prstGeom prst="roundRect">
            <a:avLst>
              <a:gd name="adj" fmla="val 9091"/>
            </a:avLst>
          </a:prstGeom>
          <a:solidFill>
            <a:srgbClr val="182A45"/>
          </a:solidFill>
          <a:ln w="12700">
            <a:solidFill>
              <a:srgbClr val="D8D2C4"/>
            </a:solidFill>
            <a:prstDash val="solid"/>
          </a:ln>
        </p:spPr>
      </p:sp>
      <p:sp>
        <p:nvSpPr>
          <p:cNvPr id="8" name="Text 6"/>
          <p:cNvSpPr/>
          <p:nvPr/>
        </p:nvSpPr>
        <p:spPr>
          <a:xfrm>
            <a:off x="2148840" y="1481328"/>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Ink navy</a:t>
            </a:r>
            <a:endParaRPr lang="en-US" sz="1100" dirty="0"/>
          </a:p>
        </p:txBody>
      </p:sp>
      <p:sp>
        <p:nvSpPr>
          <p:cNvPr id="9" name="Text 7"/>
          <p:cNvSpPr/>
          <p:nvPr/>
        </p:nvSpPr>
        <p:spPr>
          <a:xfrm>
            <a:off x="2148840" y="2011680"/>
            <a:ext cx="150876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#182A45</a:t>
            </a:r>
            <a:endParaRPr lang="en-US" sz="1000" dirty="0"/>
          </a:p>
        </p:txBody>
      </p:sp>
      <p:sp>
        <p:nvSpPr>
          <p:cNvPr id="10" name="Shape 8"/>
          <p:cNvSpPr/>
          <p:nvPr/>
        </p:nvSpPr>
        <p:spPr>
          <a:xfrm>
            <a:off x="3840480" y="1417320"/>
            <a:ext cx="1508760" cy="1005840"/>
          </a:xfrm>
          <a:prstGeom prst="roundRect">
            <a:avLst>
              <a:gd name="adj" fmla="val 9091"/>
            </a:avLst>
          </a:prstGeom>
          <a:solidFill>
            <a:srgbClr val="1D5BA6"/>
          </a:solidFill>
          <a:ln w="12700">
            <a:solidFill>
              <a:srgbClr val="D8D2C4"/>
            </a:solidFill>
            <a:prstDash val="solid"/>
          </a:ln>
        </p:spPr>
      </p:sp>
      <p:sp>
        <p:nvSpPr>
          <p:cNvPr id="11" name="Text 9"/>
          <p:cNvSpPr/>
          <p:nvPr/>
        </p:nvSpPr>
        <p:spPr>
          <a:xfrm>
            <a:off x="3840480" y="1481328"/>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Azulejo blue</a:t>
            </a:r>
            <a:endParaRPr lang="en-US" sz="1100" dirty="0"/>
          </a:p>
        </p:txBody>
      </p:sp>
      <p:sp>
        <p:nvSpPr>
          <p:cNvPr id="12" name="Text 10"/>
          <p:cNvSpPr/>
          <p:nvPr/>
        </p:nvSpPr>
        <p:spPr>
          <a:xfrm>
            <a:off x="3840480" y="2011680"/>
            <a:ext cx="150876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#1D5BA6</a:t>
            </a:r>
            <a:endParaRPr lang="en-US" sz="1000" dirty="0"/>
          </a:p>
        </p:txBody>
      </p:sp>
      <p:sp>
        <p:nvSpPr>
          <p:cNvPr id="13" name="Shape 11"/>
          <p:cNvSpPr/>
          <p:nvPr/>
        </p:nvSpPr>
        <p:spPr>
          <a:xfrm>
            <a:off x="5532120" y="1417320"/>
            <a:ext cx="1508760" cy="1005840"/>
          </a:xfrm>
          <a:prstGeom prst="roundRect">
            <a:avLst>
              <a:gd name="adj" fmla="val 9091"/>
            </a:avLst>
          </a:prstGeom>
          <a:solidFill>
            <a:srgbClr val="F4B331"/>
          </a:solidFill>
          <a:ln w="12700">
            <a:solidFill>
              <a:srgbClr val="D8D2C4"/>
            </a:solidFill>
            <a:prstDash val="solid"/>
          </a:ln>
        </p:spPr>
      </p:sp>
      <p:sp>
        <p:nvSpPr>
          <p:cNvPr id="14" name="Text 12"/>
          <p:cNvSpPr/>
          <p:nvPr/>
        </p:nvSpPr>
        <p:spPr>
          <a:xfrm>
            <a:off x="5532120" y="1481328"/>
            <a:ext cx="1508760" cy="365760"/>
          </a:xfrm>
          <a:prstGeom prst="rect">
            <a:avLst/>
          </a:prstGeom>
          <a:noFill/>
          <a:ln/>
        </p:spPr>
        <p:txBody>
          <a:bodyPr wrap="square" lIns="0" tIns="0" rIns="0" bIns="0" rtlCol="0" anchor="ctr"/>
          <a:lstStyle/>
          <a:p>
            <a:pPr algn="ctr" indent="0" marL="0">
              <a:buNone/>
            </a:pPr>
            <a:r>
              <a:rPr lang="en-US" sz="1100" b="1" dirty="0">
                <a:solidFill>
                  <a:srgbClr val="182A45"/>
                </a:solidFill>
                <a:latin typeface="Calibri" pitchFamily="34" charset="0"/>
                <a:ea typeface="Calibri" pitchFamily="34" charset="-122"/>
                <a:cs typeface="Calibri" pitchFamily="34" charset="-120"/>
              </a:rPr>
              <a:t>Sun gold</a:t>
            </a:r>
            <a:endParaRPr lang="en-US" sz="1100" dirty="0"/>
          </a:p>
        </p:txBody>
      </p:sp>
      <p:sp>
        <p:nvSpPr>
          <p:cNvPr id="15" name="Text 13"/>
          <p:cNvSpPr/>
          <p:nvPr/>
        </p:nvSpPr>
        <p:spPr>
          <a:xfrm>
            <a:off x="5532120" y="2011680"/>
            <a:ext cx="1508760" cy="320040"/>
          </a:xfrm>
          <a:prstGeom prst="rect">
            <a:avLst/>
          </a:prstGeom>
          <a:noFill/>
          <a:ln/>
        </p:spPr>
        <p:txBody>
          <a:bodyPr wrap="square" lIns="0" tIns="0" rIns="0" bIns="0" rtlCol="0" anchor="ctr"/>
          <a:lstStyle/>
          <a:p>
            <a:pPr algn="ctr" indent="0" marL="0">
              <a:buNone/>
            </a:pPr>
            <a:r>
              <a:rPr lang="en-US" sz="1000" dirty="0">
                <a:solidFill>
                  <a:srgbClr val="182A45"/>
                </a:solidFill>
                <a:latin typeface="Courier New" pitchFamily="34" charset="0"/>
                <a:ea typeface="Courier New" pitchFamily="34" charset="-122"/>
                <a:cs typeface="Courier New" pitchFamily="34" charset="-120"/>
              </a:rPr>
              <a:t>#F4B331</a:t>
            </a:r>
            <a:endParaRPr lang="en-US" sz="1000" dirty="0"/>
          </a:p>
        </p:txBody>
      </p:sp>
      <p:sp>
        <p:nvSpPr>
          <p:cNvPr id="16" name="Shape 14"/>
          <p:cNvSpPr/>
          <p:nvPr/>
        </p:nvSpPr>
        <p:spPr>
          <a:xfrm>
            <a:off x="7223760" y="1417320"/>
            <a:ext cx="1508760" cy="1005840"/>
          </a:xfrm>
          <a:prstGeom prst="roundRect">
            <a:avLst>
              <a:gd name="adj" fmla="val 9091"/>
            </a:avLst>
          </a:prstGeom>
          <a:solidFill>
            <a:srgbClr val="E85D4A"/>
          </a:solidFill>
          <a:ln w="12700">
            <a:solidFill>
              <a:srgbClr val="D8D2C4"/>
            </a:solidFill>
            <a:prstDash val="solid"/>
          </a:ln>
        </p:spPr>
      </p:sp>
      <p:sp>
        <p:nvSpPr>
          <p:cNvPr id="17" name="Text 15"/>
          <p:cNvSpPr/>
          <p:nvPr/>
        </p:nvSpPr>
        <p:spPr>
          <a:xfrm>
            <a:off x="7223760" y="1481328"/>
            <a:ext cx="1508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Sunset coral</a:t>
            </a:r>
            <a:endParaRPr lang="en-US" sz="1100" dirty="0"/>
          </a:p>
        </p:txBody>
      </p:sp>
      <p:sp>
        <p:nvSpPr>
          <p:cNvPr id="18" name="Text 16"/>
          <p:cNvSpPr/>
          <p:nvPr/>
        </p:nvSpPr>
        <p:spPr>
          <a:xfrm>
            <a:off x="7223760" y="2011680"/>
            <a:ext cx="1508760" cy="32004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#E85D4A</a:t>
            </a:r>
            <a:endParaRPr lang="en-US" sz="1000" dirty="0"/>
          </a:p>
        </p:txBody>
      </p:sp>
      <p:sp>
        <p:nvSpPr>
          <p:cNvPr id="19" name="Text 17"/>
          <p:cNvSpPr/>
          <p:nvPr/>
        </p:nvSpPr>
        <p:spPr>
          <a:xfrm>
            <a:off x="457200" y="2743200"/>
            <a:ext cx="8229600" cy="1920240"/>
          </a:xfrm>
          <a:prstGeom prst="rect">
            <a:avLst/>
          </a:prstGeom>
          <a:noFill/>
          <a:ln/>
        </p:spPr>
        <p:txBody>
          <a:bodyPr wrap="square" lIns="0" tIns="0" rIns="0" bIns="0" rtlCol="0" anchor="ctr"/>
          <a:lstStyle/>
          <a:p>
            <a:pPr marL="152400" indent="-152400">
              <a:spcAft>
                <a:spcPts val="700"/>
              </a:spcAft>
              <a:buSzPct val="100000"/>
              <a:buChar char="•"/>
            </a:pPr>
            <a:r>
              <a:rPr lang="en-US" sz="1250" dirty="0">
                <a:solidFill>
                  <a:srgbClr val="182A45"/>
                </a:solidFill>
                <a:latin typeface="Calibri" pitchFamily="34" charset="0"/>
                <a:ea typeface="Calibri" pitchFamily="34" charset="-122"/>
                <a:cs typeface="Calibri" pitchFamily="34" charset="-120"/>
              </a:rPr>
              <a:t>All colours stored once as CSS custom properties (design tokens) — one change re-themes the whole site.</a:t>
            </a:r>
            <a:endParaRPr lang="en-US" sz="1250" dirty="0"/>
          </a:p>
          <a:p>
            <a:pPr marL="152400" indent="-152400">
              <a:spcAft>
                <a:spcPts val="700"/>
              </a:spcAft>
              <a:buSzPct val="100000"/>
              <a:buChar char="•"/>
            </a:pPr>
            <a:r>
              <a:rPr lang="en-US" sz="1250" dirty="0">
                <a:solidFill>
                  <a:srgbClr val="182A45"/>
                </a:solidFill>
                <a:latin typeface="Calibri" pitchFamily="34" charset="0"/>
                <a:ea typeface="Calibri" pitchFamily="34" charset="-122"/>
                <a:cs typeface="Calibri" pitchFamily="34" charset="-120"/>
              </a:rPr>
              <a:t>Custom logo (sun + round frames) built into the header on every page, and as a full brand card on About.</a:t>
            </a:r>
            <a:endParaRPr lang="en-US" sz="1250" dirty="0"/>
          </a:p>
          <a:p>
            <a:pPr marL="152400" indent="-152400">
              <a:spcAft>
                <a:spcPts val="700"/>
              </a:spcAft>
              <a:buSzPct val="100000"/>
              <a:buChar char="•"/>
            </a:pPr>
            <a:r>
              <a:rPr lang="en-US" sz="1250" dirty="0">
                <a:solidFill>
                  <a:srgbClr val="182A45"/>
                </a:solidFill>
                <a:latin typeface="Calibri" pitchFamily="34" charset="0"/>
                <a:ea typeface="Calibri" pitchFamily="34" charset="-122"/>
                <a:cs typeface="Calibri" pitchFamily="34" charset="-120"/>
              </a:rPr>
              <a:t>Signature element: the hero sun, drawn with repeating-conic-gradient and animated with a keyframe rotation — zero image weight.</a:t>
            </a:r>
            <a:endParaRPr lang="en-US" sz="1250" dirty="0"/>
          </a:p>
          <a:p>
            <a:pPr marL="152400" indent="-152400">
              <a:spcAft>
                <a:spcPts val="700"/>
              </a:spcAft>
              <a:buSzPct val="100000"/>
              <a:buChar char="•"/>
            </a:pPr>
            <a:r>
              <a:rPr lang="en-US" sz="1250" dirty="0">
                <a:solidFill>
                  <a:srgbClr val="182A45"/>
                </a:solidFill>
                <a:latin typeface="Calibri" pitchFamily="34" charset="0"/>
                <a:ea typeface="Calibri" pitchFamily="34" charset="-122"/>
                <a:cs typeface="Calibri" pitchFamily="34" charset="-120"/>
              </a:rPr>
              <a:t>Every asset is original or self-generated, including a synthesised soundtrack for the collection video — no third-party or copyrighted material anywhere.</a:t>
            </a:r>
            <a:endParaRPr lang="en-US" sz="1250" dirty="0"/>
          </a:p>
        </p:txBody>
      </p:sp>
      <p:sp>
        <p:nvSpPr>
          <p:cNvPr id="20" name="Text 18"/>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LO2 · JAVASCRIPT</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The basket: data flows, DOM follows</a:t>
            </a:r>
            <a:endParaRPr lang="en-US" sz="3000" dirty="0"/>
          </a:p>
        </p:txBody>
      </p:sp>
      <p:sp>
        <p:nvSpPr>
          <p:cNvPr id="4" name="Shape 2"/>
          <p:cNvSpPr/>
          <p:nvPr/>
        </p:nvSpPr>
        <p:spPr>
          <a:xfrm>
            <a:off x="457200" y="1463040"/>
            <a:ext cx="2514600" cy="1234440"/>
          </a:xfrm>
          <a:prstGeom prst="roundRect">
            <a:avLst>
              <a:gd name="adj" fmla="val 8889"/>
            </a:avLst>
          </a:prstGeom>
          <a:solidFill>
            <a:srgbClr val="F2EADB"/>
          </a:solidFill>
          <a:ln/>
        </p:spPr>
      </p:sp>
      <p:sp>
        <p:nvSpPr>
          <p:cNvPr id="5" name="Text 3"/>
          <p:cNvSpPr/>
          <p:nvPr/>
        </p:nvSpPr>
        <p:spPr>
          <a:xfrm>
            <a:off x="594360" y="1572768"/>
            <a:ext cx="2240280" cy="365760"/>
          </a:xfrm>
          <a:prstGeom prst="rect">
            <a:avLst/>
          </a:prstGeom>
          <a:noFill/>
          <a:ln/>
        </p:spPr>
        <p:txBody>
          <a:bodyPr wrap="square" lIns="0" tIns="0" rIns="0" bIns="0" rtlCol="0" anchor="ctr"/>
          <a:lstStyle/>
          <a:p>
            <a:pPr indent="0" marL="0">
              <a:buNone/>
            </a:pPr>
            <a:r>
              <a:rPr lang="en-US" sz="1500" b="1" dirty="0">
                <a:solidFill>
                  <a:srgbClr val="1D5BA6"/>
                </a:solidFill>
                <a:latin typeface="Arial" pitchFamily="34" charset="0"/>
                <a:ea typeface="Arial" pitchFamily="34" charset="-122"/>
                <a:cs typeface="Arial" pitchFamily="34" charset="-120"/>
              </a:rPr>
              <a:t>HTML data-*</a:t>
            </a:r>
            <a:endParaRPr lang="en-US" sz="1500" dirty="0"/>
          </a:p>
        </p:txBody>
      </p:sp>
      <p:sp>
        <p:nvSpPr>
          <p:cNvPr id="6" name="Text 4"/>
          <p:cNvSpPr/>
          <p:nvPr/>
        </p:nvSpPr>
        <p:spPr>
          <a:xfrm>
            <a:off x="594360" y="1938528"/>
            <a:ext cx="2240280" cy="685800"/>
          </a:xfrm>
          <a:prstGeom prst="rect">
            <a:avLst/>
          </a:prstGeom>
          <a:noFill/>
          <a:ln/>
        </p:spPr>
        <p:txBody>
          <a:bodyPr wrap="square" lIns="0" tIns="0" rIns="0" bIns="0" rtlCol="0" anchor="ctr"/>
          <a:lstStyle/>
          <a:p>
            <a:pPr indent="0" marL="0">
              <a:buNone/>
            </a:pPr>
            <a:r>
              <a:rPr lang="en-US" sz="1150" dirty="0">
                <a:solidFill>
                  <a:srgbClr val="182A45"/>
                </a:solidFill>
                <a:latin typeface="Calibri" pitchFamily="34" charset="0"/>
                <a:ea typeface="Calibri" pitchFamily="34" charset="-122"/>
                <a:cs typeface="Calibri" pitchFamily="34" charset="-120"/>
              </a:rPr>
              <a:t>Each Add button carries id, name, price, image</a:t>
            </a:r>
            <a:endParaRPr lang="en-US" sz="1150" dirty="0"/>
          </a:p>
        </p:txBody>
      </p:sp>
      <p:sp>
        <p:nvSpPr>
          <p:cNvPr id="7" name="Text 5"/>
          <p:cNvSpPr/>
          <p:nvPr/>
        </p:nvSpPr>
        <p:spPr>
          <a:xfrm>
            <a:off x="2944368" y="1783080"/>
            <a:ext cx="457200" cy="457200"/>
          </a:xfrm>
          <a:prstGeom prst="rect">
            <a:avLst/>
          </a:prstGeom>
          <a:noFill/>
          <a:ln/>
        </p:spPr>
        <p:txBody>
          <a:bodyPr wrap="square" lIns="0" tIns="0" rIns="0" bIns="0" rtlCol="0" anchor="ctr"/>
          <a:lstStyle/>
          <a:p>
            <a:pPr algn="ctr" indent="0" marL="0">
              <a:buNone/>
            </a:pPr>
            <a:r>
              <a:rPr lang="en-US" sz="2200" b="1" dirty="0">
                <a:solidFill>
                  <a:srgbClr val="E85D4A"/>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337560" y="1463040"/>
            <a:ext cx="2514600" cy="1234440"/>
          </a:xfrm>
          <a:prstGeom prst="roundRect">
            <a:avLst>
              <a:gd name="adj" fmla="val 8889"/>
            </a:avLst>
          </a:prstGeom>
          <a:solidFill>
            <a:srgbClr val="182A45"/>
          </a:solidFill>
          <a:ln/>
        </p:spPr>
      </p:sp>
      <p:sp>
        <p:nvSpPr>
          <p:cNvPr id="9" name="Text 7"/>
          <p:cNvSpPr/>
          <p:nvPr/>
        </p:nvSpPr>
        <p:spPr>
          <a:xfrm>
            <a:off x="3474720" y="1572768"/>
            <a:ext cx="2240280" cy="365760"/>
          </a:xfrm>
          <a:prstGeom prst="rect">
            <a:avLst/>
          </a:prstGeom>
          <a:noFill/>
          <a:ln/>
        </p:spPr>
        <p:txBody>
          <a:bodyPr wrap="square" lIns="0" tIns="0" rIns="0" bIns="0" rtlCol="0" anchor="ctr"/>
          <a:lstStyle/>
          <a:p>
            <a:pPr indent="0" marL="0">
              <a:buNone/>
            </a:pPr>
            <a:r>
              <a:rPr lang="en-US" sz="1500" b="1" dirty="0">
                <a:solidFill>
                  <a:srgbClr val="F4B331"/>
                </a:solidFill>
                <a:latin typeface="Arial" pitchFamily="34" charset="0"/>
                <a:ea typeface="Arial" pitchFamily="34" charset="-122"/>
                <a:cs typeface="Arial" pitchFamily="34" charset="-120"/>
              </a:rPr>
              <a:t>localStorage</a:t>
            </a:r>
            <a:endParaRPr lang="en-US" sz="1500" dirty="0"/>
          </a:p>
        </p:txBody>
      </p:sp>
      <p:sp>
        <p:nvSpPr>
          <p:cNvPr id="10" name="Text 8"/>
          <p:cNvSpPr/>
          <p:nvPr/>
        </p:nvSpPr>
        <p:spPr>
          <a:xfrm>
            <a:off x="3474720" y="1938528"/>
            <a:ext cx="2240280" cy="6858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One JSON array survives page navigation</a:t>
            </a:r>
            <a:endParaRPr lang="en-US" sz="1150" dirty="0"/>
          </a:p>
        </p:txBody>
      </p:sp>
      <p:sp>
        <p:nvSpPr>
          <p:cNvPr id="11" name="Text 9"/>
          <p:cNvSpPr/>
          <p:nvPr/>
        </p:nvSpPr>
        <p:spPr>
          <a:xfrm>
            <a:off x="5824728" y="1783080"/>
            <a:ext cx="457200" cy="457200"/>
          </a:xfrm>
          <a:prstGeom prst="rect">
            <a:avLst/>
          </a:prstGeom>
          <a:noFill/>
          <a:ln/>
        </p:spPr>
        <p:txBody>
          <a:bodyPr wrap="square" lIns="0" tIns="0" rIns="0" bIns="0" rtlCol="0" anchor="ctr"/>
          <a:lstStyle/>
          <a:p>
            <a:pPr algn="ctr" indent="0" marL="0">
              <a:buNone/>
            </a:pPr>
            <a:r>
              <a:rPr lang="en-US" sz="2200" b="1" dirty="0">
                <a:solidFill>
                  <a:srgbClr val="E85D4A"/>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6217920" y="1463040"/>
            <a:ext cx="2514600" cy="1234440"/>
          </a:xfrm>
          <a:prstGeom prst="roundRect">
            <a:avLst>
              <a:gd name="adj" fmla="val 8889"/>
            </a:avLst>
          </a:prstGeom>
          <a:solidFill>
            <a:srgbClr val="F2EADB"/>
          </a:solidFill>
          <a:ln/>
        </p:spPr>
      </p:sp>
      <p:sp>
        <p:nvSpPr>
          <p:cNvPr id="13" name="Text 11"/>
          <p:cNvSpPr/>
          <p:nvPr/>
        </p:nvSpPr>
        <p:spPr>
          <a:xfrm>
            <a:off x="6355080" y="1572768"/>
            <a:ext cx="2240280" cy="365760"/>
          </a:xfrm>
          <a:prstGeom prst="rect">
            <a:avLst/>
          </a:prstGeom>
          <a:noFill/>
          <a:ln/>
        </p:spPr>
        <p:txBody>
          <a:bodyPr wrap="square" lIns="0" tIns="0" rIns="0" bIns="0" rtlCol="0" anchor="ctr"/>
          <a:lstStyle/>
          <a:p>
            <a:pPr indent="0" marL="0">
              <a:buNone/>
            </a:pPr>
            <a:r>
              <a:rPr lang="en-US" sz="1500" b="1" dirty="0">
                <a:solidFill>
                  <a:srgbClr val="1D5BA6"/>
                </a:solidFill>
                <a:latin typeface="Arial" pitchFamily="34" charset="0"/>
                <a:ea typeface="Arial" pitchFamily="34" charset="-122"/>
                <a:cs typeface="Arial" pitchFamily="34" charset="-120"/>
              </a:rPr>
              <a:t>DOM render</a:t>
            </a:r>
            <a:endParaRPr lang="en-US" sz="1500" dirty="0"/>
          </a:p>
        </p:txBody>
      </p:sp>
      <p:sp>
        <p:nvSpPr>
          <p:cNvPr id="14" name="Text 12"/>
          <p:cNvSpPr/>
          <p:nvPr/>
        </p:nvSpPr>
        <p:spPr>
          <a:xfrm>
            <a:off x="6355080" y="1938528"/>
            <a:ext cx="2240280" cy="685800"/>
          </a:xfrm>
          <a:prstGeom prst="rect">
            <a:avLst/>
          </a:prstGeom>
          <a:noFill/>
          <a:ln/>
        </p:spPr>
        <p:txBody>
          <a:bodyPr wrap="square" lIns="0" tIns="0" rIns="0" bIns="0" rtlCol="0" anchor="ctr"/>
          <a:lstStyle/>
          <a:p>
            <a:pPr indent="0" marL="0">
              <a:buNone/>
            </a:pPr>
            <a:r>
              <a:rPr lang="en-US" sz="1150" dirty="0">
                <a:solidFill>
                  <a:srgbClr val="182A45"/>
                </a:solidFill>
                <a:latin typeface="Calibri" pitchFamily="34" charset="0"/>
                <a:ea typeface="Calibri" pitchFamily="34" charset="-122"/>
                <a:cs typeface="Calibri" pitchFamily="34" charset="-120"/>
              </a:rPr>
              <a:t>cart.html table, totals &amp; badge rebuilt from data</a:t>
            </a:r>
            <a:endParaRPr lang="en-US" sz="1150" dirty="0"/>
          </a:p>
        </p:txBody>
      </p:sp>
      <p:sp>
        <p:nvSpPr>
          <p:cNvPr id="15" name="Text 13"/>
          <p:cNvSpPr/>
          <p:nvPr/>
        </p:nvSpPr>
        <p:spPr>
          <a:xfrm>
            <a:off x="457200" y="3017520"/>
            <a:ext cx="8229600" cy="3291840"/>
          </a:xfrm>
          <a:prstGeom prst="rect">
            <a:avLst/>
          </a:prstGeom>
          <a:noFill/>
          <a:ln/>
        </p:spPr>
        <p:txBody>
          <a:bodyPr wrap="square" lIns="0" tIns="0" rIns="0" bIns="0" rtlCol="0" anchor="ctr"/>
          <a:lstStyle/>
          <a:p>
            <a:pPr marL="152400" indent="-152400">
              <a:spcAft>
                <a:spcPts val="1000"/>
              </a:spcAft>
              <a:buSzPct val="100000"/>
              <a:buChar char="•"/>
            </a:pPr>
            <a:r>
              <a:rPr lang="en-US" sz="1350" dirty="0">
                <a:solidFill>
                  <a:srgbClr val="182A45"/>
                </a:solidFill>
                <a:latin typeface="Calibri" pitchFamily="34" charset="0"/>
                <a:ea typeface="Calibri" pitchFamily="34" charset="-122"/>
                <a:cs typeface="Calibri" pitchFamily="34" charset="-120"/>
              </a:rPr>
              <a:t>Add, remove, increase/decrease quantity, live total — all via DOM manipulation, as required.</a:t>
            </a:r>
            <a:endParaRPr lang="en-US" sz="1350" dirty="0"/>
          </a:p>
          <a:p>
            <a:pPr marL="152400" indent="-152400">
              <a:spcAft>
                <a:spcPts val="1000"/>
              </a:spcAft>
              <a:buSzPct val="100000"/>
              <a:buChar char="•"/>
            </a:pPr>
            <a:r>
              <a:rPr lang="en-US" sz="1350" dirty="0">
                <a:solidFill>
                  <a:srgbClr val="182A45"/>
                </a:solidFill>
                <a:latin typeface="Calibri" pitchFamily="34" charset="0"/>
                <a:ea typeface="Calibri" pitchFamily="34" charset="-122"/>
                <a:cs typeface="Calibri" pitchFamily="34" charset="-120"/>
              </a:rPr>
              <a:t>Event delegation: one click listener on the document serves every button, read through data-action / data-id.</a:t>
            </a:r>
            <a:endParaRPr lang="en-US" sz="1350" dirty="0"/>
          </a:p>
          <a:p>
            <a:pPr marL="152400" indent="-152400">
              <a:spcAft>
                <a:spcPts val="1000"/>
              </a:spcAft>
              <a:buSzPct val="100000"/>
              <a:buChar char="•"/>
            </a:pPr>
            <a:r>
              <a:rPr lang="en-US" sz="1350" dirty="0">
                <a:solidFill>
                  <a:srgbClr val="182A45"/>
                </a:solidFill>
                <a:latin typeface="Calibri" pitchFamily="34" charset="0"/>
                <a:ea typeface="Calibri" pitchFamily="34" charset="-122"/>
                <a:cs typeface="Calibri" pitchFamily="34" charset="-120"/>
              </a:rPr>
              <a:t>HTML is the single source of truth — adding a product means adding one &lt;article&gt;; no JavaScript changes needed.</a:t>
            </a:r>
            <a:endParaRPr lang="en-US" sz="1350" dirty="0"/>
          </a:p>
        </p:txBody>
      </p:sp>
      <p:sp>
        <p:nvSpPr>
          <p:cNvPr id="16" name="Text 14"/>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LO2 · JAVASCRIPT</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Filters &amp; form validation</a:t>
            </a:r>
            <a:endParaRPr lang="en-US" sz="3000" dirty="0"/>
          </a:p>
        </p:txBody>
      </p:sp>
      <p:pic>
        <p:nvPicPr>
          <p:cNvPr id="4" name="Image 0" descr="pres-validation.png">    </p:cNvPr>
          <p:cNvPicPr>
            <a:picLocks noChangeAspect="1"/>
          </p:cNvPicPr>
          <p:nvPr/>
        </p:nvPicPr>
        <p:blipFill>
          <a:blip r:embed="rId1"/>
          <a:stretch>
            <a:fillRect/>
          </a:stretch>
        </p:blipFill>
        <p:spPr>
          <a:xfrm>
            <a:off x="4892040" y="1325880"/>
            <a:ext cx="3840480" cy="2578608"/>
          </a:xfrm>
          <a:prstGeom prst="rect">
            <a:avLst/>
          </a:prstGeom>
          <a:effectLst>
            <a:outerShdw sx="100000" sy="100000" kx="0" ky="0" algn="bl" rotWithShape="0" blurRad="101600" dist="38100" dir="5400000">
              <a:srgbClr val="000000">
                <a:alpha val="35000"/>
              </a:srgbClr>
            </a:outerShdw>
          </a:effectLst>
        </p:spPr>
      </p:pic>
      <p:sp>
        <p:nvSpPr>
          <p:cNvPr id="5" name="Text 2"/>
          <p:cNvSpPr/>
          <p:nvPr/>
        </p:nvSpPr>
        <p:spPr>
          <a:xfrm>
            <a:off x="457200" y="1371600"/>
            <a:ext cx="4114800" cy="3291840"/>
          </a:xfrm>
          <a:prstGeom prst="rect">
            <a:avLst/>
          </a:prstGeom>
          <a:noFill/>
          <a:ln/>
        </p:spPr>
        <p:txBody>
          <a:bodyPr wrap="square" lIns="0" tIns="0" rIns="0" bIns="0" rtlCol="0" anchor="ctr"/>
          <a:lstStyle/>
          <a:p>
            <a:pPr marL="152400" indent="-152400">
              <a:spcAft>
                <a:spcPts val="1000"/>
              </a:spcAft>
              <a:buSzPct val="100000"/>
              <a:buChar char="•"/>
            </a:pPr>
            <a:r>
              <a:rPr lang="en-US" sz="1350" dirty="0">
                <a:solidFill>
                  <a:srgbClr val="182A45"/>
                </a:solidFill>
                <a:latin typeface="Calibri" pitchFamily="34" charset="0"/>
                <a:ea typeface="Calibri" pitchFamily="34" charset="-122"/>
                <a:cs typeface="Calibri" pitchFamily="34" charset="-120"/>
              </a:rPr>
              <a:t>Category filters compare each card's data-category and toggle visibility — ~12 lines of JS enhancing static HTML.</a:t>
            </a:r>
            <a:endParaRPr lang="en-US" sz="1350" dirty="0"/>
          </a:p>
          <a:p>
            <a:pPr marL="152400" indent="-152400">
              <a:spcAft>
                <a:spcPts val="1000"/>
              </a:spcAft>
              <a:buSzPct val="100000"/>
              <a:buChar char="•"/>
            </a:pPr>
            <a:r>
              <a:rPr lang="en-US" sz="1350" dirty="0">
                <a:solidFill>
                  <a:srgbClr val="182A45"/>
                </a:solidFill>
                <a:latin typeface="Calibri" pitchFamily="34" charset="0"/>
                <a:ea typeface="Calibri" pitchFamily="34" charset="-122"/>
                <a:cs typeface="Calibri" pitchFamily="34" charset="-120"/>
              </a:rPr>
              <a:t>Contact form: custom validation for name length, email pattern (regex) and message length.</a:t>
            </a:r>
            <a:endParaRPr lang="en-US" sz="1350" dirty="0"/>
          </a:p>
          <a:p>
            <a:pPr marL="152400" indent="-152400">
              <a:spcAft>
                <a:spcPts val="1000"/>
              </a:spcAft>
              <a:buSzPct val="100000"/>
              <a:buChar char="•"/>
            </a:pPr>
            <a:r>
              <a:rPr lang="en-US" sz="1350" dirty="0">
                <a:solidFill>
                  <a:srgbClr val="182A45"/>
                </a:solidFill>
                <a:latin typeface="Calibri" pitchFamily="34" charset="0"/>
                <a:ea typeface="Calibri" pitchFamily="34" charset="-122"/>
                <a:cs typeface="Calibri" pitchFamily="34" charset="-120"/>
              </a:rPr>
              <a:t>Errors appear inline next to each field in aria-live regions, so screen readers announce them.</a:t>
            </a:r>
            <a:endParaRPr lang="en-US" sz="1350" dirty="0"/>
          </a:p>
          <a:p>
            <a:pPr marL="152400" indent="-152400">
              <a:spcAft>
                <a:spcPts val="1000"/>
              </a:spcAft>
              <a:buSzPct val="100000"/>
              <a:buChar char="•"/>
            </a:pPr>
            <a:r>
              <a:rPr lang="en-US" sz="1350" dirty="0">
                <a:solidFill>
                  <a:srgbClr val="182A45"/>
                </a:solidFill>
                <a:latin typeface="Calibri" pitchFamily="34" charset="0"/>
                <a:ea typeface="Calibri" pitchFamily="34" charset="-122"/>
                <a:cs typeface="Calibri" pitchFamily="34" charset="-120"/>
              </a:rPr>
              <a:t>Valid submission shows a success state and resets the form.</a:t>
            </a:r>
            <a:endParaRPr lang="en-US" sz="1350" dirty="0"/>
          </a:p>
        </p:txBody>
      </p:sp>
      <p:sp>
        <p:nvSpPr>
          <p:cNvPr id="6" name="Text 3"/>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LO3 &amp; LO4 · ACCESSIBILITY</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WCAG principles + Lighthouse evidence</a:t>
            </a:r>
            <a:endParaRPr lang="en-US" sz="3000" dirty="0"/>
          </a:p>
        </p:txBody>
      </p:sp>
      <p:sp>
        <p:nvSpPr>
          <p:cNvPr id="4" name="Shape 2"/>
          <p:cNvSpPr/>
          <p:nvPr/>
        </p:nvSpPr>
        <p:spPr>
          <a:xfrm>
            <a:off x="457200" y="1426464"/>
            <a:ext cx="237744" cy="237744"/>
          </a:xfrm>
          <a:prstGeom prst="ellipse">
            <a:avLst/>
          </a:prstGeom>
          <a:solidFill>
            <a:srgbClr val="F4B331"/>
          </a:solidFill>
          <a:ln/>
        </p:spPr>
      </p:sp>
      <p:sp>
        <p:nvSpPr>
          <p:cNvPr id="5" name="Text 3"/>
          <p:cNvSpPr/>
          <p:nvPr/>
        </p:nvSpPr>
        <p:spPr>
          <a:xfrm>
            <a:off x="841248" y="1371600"/>
            <a:ext cx="3749040" cy="685800"/>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Alt text on every image; descriptive, not decorative</a:t>
            </a:r>
            <a:endParaRPr lang="en-US" sz="1300" dirty="0"/>
          </a:p>
        </p:txBody>
      </p:sp>
      <p:sp>
        <p:nvSpPr>
          <p:cNvPr id="6" name="Shape 4"/>
          <p:cNvSpPr/>
          <p:nvPr/>
        </p:nvSpPr>
        <p:spPr>
          <a:xfrm>
            <a:off x="4709160" y="1426464"/>
            <a:ext cx="237744" cy="237744"/>
          </a:xfrm>
          <a:prstGeom prst="ellipse">
            <a:avLst/>
          </a:prstGeom>
          <a:solidFill>
            <a:srgbClr val="F4B331"/>
          </a:solidFill>
          <a:ln/>
        </p:spPr>
      </p:sp>
      <p:sp>
        <p:nvSpPr>
          <p:cNvPr id="7" name="Text 5"/>
          <p:cNvSpPr/>
          <p:nvPr/>
        </p:nvSpPr>
        <p:spPr>
          <a:xfrm>
            <a:off x="5093208" y="1371600"/>
            <a:ext cx="3749040" cy="685800"/>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Skip-to-content link for keyboard users</a:t>
            </a:r>
            <a:endParaRPr lang="en-US" sz="1300" dirty="0"/>
          </a:p>
        </p:txBody>
      </p:sp>
      <p:sp>
        <p:nvSpPr>
          <p:cNvPr id="8" name="Shape 6"/>
          <p:cNvSpPr/>
          <p:nvPr/>
        </p:nvSpPr>
        <p:spPr>
          <a:xfrm>
            <a:off x="457200" y="2203704"/>
            <a:ext cx="237744" cy="237744"/>
          </a:xfrm>
          <a:prstGeom prst="ellipse">
            <a:avLst/>
          </a:prstGeom>
          <a:solidFill>
            <a:srgbClr val="F4B331"/>
          </a:solidFill>
          <a:ln/>
        </p:spPr>
      </p:sp>
      <p:sp>
        <p:nvSpPr>
          <p:cNvPr id="9" name="Text 7"/>
          <p:cNvSpPr/>
          <p:nvPr/>
        </p:nvSpPr>
        <p:spPr>
          <a:xfrm>
            <a:off x="841248" y="2148840"/>
            <a:ext cx="3749040" cy="685800"/>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Visible :focus-visible outlines on all interactive elements</a:t>
            </a:r>
            <a:endParaRPr lang="en-US" sz="1300" dirty="0"/>
          </a:p>
        </p:txBody>
      </p:sp>
      <p:sp>
        <p:nvSpPr>
          <p:cNvPr id="10" name="Shape 8"/>
          <p:cNvSpPr/>
          <p:nvPr/>
        </p:nvSpPr>
        <p:spPr>
          <a:xfrm>
            <a:off x="4709160" y="2203704"/>
            <a:ext cx="237744" cy="237744"/>
          </a:xfrm>
          <a:prstGeom prst="ellipse">
            <a:avLst/>
          </a:prstGeom>
          <a:solidFill>
            <a:srgbClr val="F4B331"/>
          </a:solidFill>
          <a:ln/>
        </p:spPr>
      </p:sp>
      <p:sp>
        <p:nvSpPr>
          <p:cNvPr id="11" name="Text 9"/>
          <p:cNvSpPr/>
          <p:nvPr/>
        </p:nvSpPr>
        <p:spPr>
          <a:xfrm>
            <a:off x="5093208" y="2148840"/>
            <a:ext cx="3749040" cy="685800"/>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ARIA: labels on icon buttons, aria-live basket, aria-expanded menu</a:t>
            </a:r>
            <a:endParaRPr lang="en-US" sz="1300" dirty="0"/>
          </a:p>
        </p:txBody>
      </p:sp>
      <p:sp>
        <p:nvSpPr>
          <p:cNvPr id="12" name="Shape 10"/>
          <p:cNvSpPr/>
          <p:nvPr/>
        </p:nvSpPr>
        <p:spPr>
          <a:xfrm>
            <a:off x="457200" y="2980944"/>
            <a:ext cx="237744" cy="237744"/>
          </a:xfrm>
          <a:prstGeom prst="ellipse">
            <a:avLst/>
          </a:prstGeom>
          <a:solidFill>
            <a:srgbClr val="F4B331"/>
          </a:solidFill>
          <a:ln/>
        </p:spPr>
      </p:sp>
      <p:sp>
        <p:nvSpPr>
          <p:cNvPr id="13" name="Text 11"/>
          <p:cNvSpPr/>
          <p:nvPr/>
        </p:nvSpPr>
        <p:spPr>
          <a:xfrm>
            <a:off x="841248" y="2926080"/>
            <a:ext cx="3749040" cy="685800"/>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Colour contrast checked against the navy/white palette</a:t>
            </a:r>
            <a:endParaRPr lang="en-US" sz="1300" dirty="0"/>
          </a:p>
        </p:txBody>
      </p:sp>
      <p:sp>
        <p:nvSpPr>
          <p:cNvPr id="14" name="Shape 12"/>
          <p:cNvSpPr/>
          <p:nvPr/>
        </p:nvSpPr>
        <p:spPr>
          <a:xfrm>
            <a:off x="4709160" y="2980944"/>
            <a:ext cx="237744" cy="237744"/>
          </a:xfrm>
          <a:prstGeom prst="ellipse">
            <a:avLst/>
          </a:prstGeom>
          <a:solidFill>
            <a:srgbClr val="F4B331"/>
          </a:solidFill>
          <a:ln/>
        </p:spPr>
      </p:sp>
      <p:sp>
        <p:nvSpPr>
          <p:cNvPr id="15" name="Text 13"/>
          <p:cNvSpPr/>
          <p:nvPr/>
        </p:nvSpPr>
        <p:spPr>
          <a:xfrm>
            <a:off x="5093208" y="2926080"/>
            <a:ext cx="3749040" cy="685800"/>
          </a:xfrm>
          <a:prstGeom prst="rect">
            <a:avLst/>
          </a:prstGeom>
          <a:noFill/>
          <a:ln/>
        </p:spPr>
        <p:txBody>
          <a:bodyPr wrap="square" lIns="0" tIns="0" rIns="0" bIns="0" rtlCol="0" anchor="ctr"/>
          <a:lstStyle/>
          <a:p>
            <a:pPr indent="0" marL="0">
              <a:buNone/>
            </a:pPr>
            <a:r>
              <a:rPr lang="en-US" sz="1300" dirty="0">
                <a:solidFill>
                  <a:srgbClr val="182A45"/>
                </a:solidFill>
                <a:latin typeface="Calibri" pitchFamily="34" charset="0"/>
                <a:ea typeface="Calibri" pitchFamily="34" charset="-122"/>
                <a:cs typeface="Calibri" pitchFamily="34" charset="-120"/>
              </a:rPr>
              <a:t>prefers-reduced-motion support</a:t>
            </a:r>
            <a:endParaRPr lang="en-US" sz="1300" dirty="0"/>
          </a:p>
        </p:txBody>
      </p:sp>
      <p:sp>
        <p:nvSpPr>
          <p:cNvPr id="16" name="Shape 14"/>
          <p:cNvSpPr/>
          <p:nvPr/>
        </p:nvSpPr>
        <p:spPr>
          <a:xfrm>
            <a:off x="457200" y="3840480"/>
            <a:ext cx="8229600" cy="868680"/>
          </a:xfrm>
          <a:prstGeom prst="roundRect">
            <a:avLst>
              <a:gd name="adj" fmla="val 12632"/>
            </a:avLst>
          </a:prstGeom>
          <a:solidFill>
            <a:srgbClr val="F2EADB"/>
          </a:solidFill>
          <a:ln/>
        </p:spPr>
      </p:sp>
      <p:sp>
        <p:nvSpPr>
          <p:cNvPr id="17" name="Text 15"/>
          <p:cNvSpPr/>
          <p:nvPr/>
        </p:nvSpPr>
        <p:spPr>
          <a:xfrm>
            <a:off x="685800" y="4005072"/>
            <a:ext cx="7772400" cy="548640"/>
          </a:xfrm>
          <a:prstGeom prst="rect">
            <a:avLst/>
          </a:prstGeom>
          <a:noFill/>
          <a:ln/>
        </p:spPr>
        <p:txBody>
          <a:bodyPr wrap="square" lIns="0" tIns="0" rIns="0" bIns="0" rtlCol="0" anchor="ctr"/>
          <a:lstStyle/>
          <a:p>
            <a:pPr indent="0" marL="0">
              <a:buNone/>
            </a:pPr>
            <a:r>
              <a:rPr lang="en-US" sz="1250" b="1" dirty="0">
                <a:solidFill>
                  <a:srgbClr val="1D5BA6"/>
                </a:solidFill>
                <a:latin typeface="Calibri" pitchFamily="34" charset="0"/>
                <a:ea typeface="Calibri" pitchFamily="34" charset="-122"/>
                <a:cs typeface="Calibri" pitchFamily="34" charset="-120"/>
              </a:rPr>
              <a:t>Lighthouse audit workflow:  </a:t>
            </a:r>
            <a:pPr indent="0" marL="0">
              <a:buNone/>
            </a:pPr>
            <a:r>
              <a:rPr lang="en-US" sz="1250" dirty="0">
                <a:solidFill>
                  <a:srgbClr val="182A45"/>
                </a:solidFill>
                <a:latin typeface="Calibri" pitchFamily="34" charset="0"/>
                <a:ea typeface="Calibri" pitchFamily="34" charset="-122"/>
                <a:cs typeface="Calibri" pitchFamily="34" charset="-120"/>
              </a:rPr>
              <a:t>audit → screenshot (Problem1/2.png) → fix (label-in-name, heading order) → re-audit → screenshot (Fix1/2.png) → saved in /evidence. Accessibility now scores 100 across all five pages.</a:t>
            </a:r>
            <a:endParaRPr lang="en-US" sz="1250" dirty="0"/>
          </a:p>
        </p:txBody>
      </p:sp>
      <p:sp>
        <p:nvSpPr>
          <p:cNvPr id="18" name="Text 16"/>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LO4 · SEO &amp; DEPLOYMENT</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Findable, shareable, and live</a:t>
            </a:r>
            <a:endParaRPr lang="en-US" sz="3000" dirty="0"/>
          </a:p>
        </p:txBody>
      </p:sp>
      <p:sp>
        <p:nvSpPr>
          <p:cNvPr id="4" name="Text 2"/>
          <p:cNvSpPr/>
          <p:nvPr/>
        </p:nvSpPr>
        <p:spPr>
          <a:xfrm>
            <a:off x="457200" y="1417320"/>
            <a:ext cx="3931920" cy="320040"/>
          </a:xfrm>
          <a:prstGeom prst="rect">
            <a:avLst/>
          </a:prstGeom>
          <a:noFill/>
          <a:ln/>
        </p:spPr>
        <p:txBody>
          <a:bodyPr wrap="square" lIns="0" tIns="0" rIns="0" bIns="0" rtlCol="0" anchor="ctr"/>
          <a:lstStyle/>
          <a:p>
            <a:pPr indent="0" marL="0">
              <a:buNone/>
            </a:pPr>
            <a:r>
              <a:rPr lang="en-US" sz="1400" b="1" dirty="0">
                <a:solidFill>
                  <a:srgbClr val="1D5BA6"/>
                </a:solidFill>
                <a:latin typeface="Arial" pitchFamily="34" charset="0"/>
                <a:ea typeface="Arial" pitchFamily="34" charset="-122"/>
                <a:cs typeface="Arial" pitchFamily="34" charset="-120"/>
              </a:rPr>
              <a:t>Unique &lt;title&gt; per page</a:t>
            </a:r>
            <a:endParaRPr lang="en-US" sz="1400" dirty="0"/>
          </a:p>
        </p:txBody>
      </p:sp>
      <p:sp>
        <p:nvSpPr>
          <p:cNvPr id="5" name="Text 3"/>
          <p:cNvSpPr/>
          <p:nvPr/>
        </p:nvSpPr>
        <p:spPr>
          <a:xfrm>
            <a:off x="457200" y="1728216"/>
            <a:ext cx="3931920" cy="548640"/>
          </a:xfrm>
          <a:prstGeom prst="rect">
            <a:avLst/>
          </a:prstGeom>
          <a:noFill/>
          <a:ln/>
        </p:spPr>
        <p:txBody>
          <a:bodyPr wrap="square" lIns="0" tIns="0" rIns="0" bIns="0" rtlCol="0" anchor="ctr"/>
          <a:lstStyle/>
          <a:p>
            <a:pPr indent="0" marL="0">
              <a:buNone/>
            </a:pPr>
            <a:r>
              <a:rPr lang="en-US" sz="1200" dirty="0">
                <a:solidFill>
                  <a:srgbClr val="5A6678"/>
                </a:solidFill>
                <a:latin typeface="Calibri" pitchFamily="34" charset="0"/>
                <a:ea typeface="Calibri" pitchFamily="34" charset="-122"/>
                <a:cs typeface="Calibri" pitchFamily="34" charset="-120"/>
              </a:rPr>
              <a:t>Five distinct titles, not one repeated across the site</a:t>
            </a:r>
            <a:endParaRPr lang="en-US" sz="1200" dirty="0"/>
          </a:p>
        </p:txBody>
      </p:sp>
      <p:sp>
        <p:nvSpPr>
          <p:cNvPr id="6" name="Text 4"/>
          <p:cNvSpPr/>
          <p:nvPr/>
        </p:nvSpPr>
        <p:spPr>
          <a:xfrm>
            <a:off x="4709160" y="1417320"/>
            <a:ext cx="3931920" cy="320040"/>
          </a:xfrm>
          <a:prstGeom prst="rect">
            <a:avLst/>
          </a:prstGeom>
          <a:noFill/>
          <a:ln/>
        </p:spPr>
        <p:txBody>
          <a:bodyPr wrap="square" lIns="0" tIns="0" rIns="0" bIns="0" rtlCol="0" anchor="ctr"/>
          <a:lstStyle/>
          <a:p>
            <a:pPr indent="0" marL="0">
              <a:buNone/>
            </a:pPr>
            <a:r>
              <a:rPr lang="en-US" sz="1400" b="1" dirty="0">
                <a:solidFill>
                  <a:srgbClr val="1D5BA6"/>
                </a:solidFill>
                <a:latin typeface="Arial" pitchFamily="34" charset="0"/>
                <a:ea typeface="Arial" pitchFamily="34" charset="-122"/>
                <a:cs typeface="Arial" pitchFamily="34" charset="-120"/>
              </a:rPr>
              <a:t>Meta descriptions &amp; Open Graph</a:t>
            </a:r>
            <a:endParaRPr lang="en-US" sz="1400" dirty="0"/>
          </a:p>
        </p:txBody>
      </p:sp>
      <p:sp>
        <p:nvSpPr>
          <p:cNvPr id="7" name="Text 5"/>
          <p:cNvSpPr/>
          <p:nvPr/>
        </p:nvSpPr>
        <p:spPr>
          <a:xfrm>
            <a:off x="4709160" y="1728216"/>
            <a:ext cx="3931920" cy="548640"/>
          </a:xfrm>
          <a:prstGeom prst="rect">
            <a:avLst/>
          </a:prstGeom>
          <a:noFill/>
          <a:ln/>
        </p:spPr>
        <p:txBody>
          <a:bodyPr wrap="square" lIns="0" tIns="0" rIns="0" bIns="0" rtlCol="0" anchor="ctr"/>
          <a:lstStyle/>
          <a:p>
            <a:pPr indent="0" marL="0">
              <a:buNone/>
            </a:pPr>
            <a:r>
              <a:rPr lang="en-US" sz="1200" dirty="0">
                <a:solidFill>
                  <a:srgbClr val="5A6678"/>
                </a:solidFill>
                <a:latin typeface="Calibri" pitchFamily="34" charset="0"/>
                <a:ea typeface="Calibri" pitchFamily="34" charset="-122"/>
                <a:cs typeface="Calibri" pitchFamily="34" charset="-120"/>
              </a:rPr>
              <a:t>Hand-written summaries and correct social preview image</a:t>
            </a:r>
            <a:endParaRPr lang="en-US" sz="1200" dirty="0"/>
          </a:p>
        </p:txBody>
      </p:sp>
      <p:sp>
        <p:nvSpPr>
          <p:cNvPr id="8" name="Text 6"/>
          <p:cNvSpPr/>
          <p:nvPr/>
        </p:nvSpPr>
        <p:spPr>
          <a:xfrm>
            <a:off x="457200" y="2468880"/>
            <a:ext cx="3931920" cy="320040"/>
          </a:xfrm>
          <a:prstGeom prst="rect">
            <a:avLst/>
          </a:prstGeom>
          <a:noFill/>
          <a:ln/>
        </p:spPr>
        <p:txBody>
          <a:bodyPr wrap="square" lIns="0" tIns="0" rIns="0" bIns="0" rtlCol="0" anchor="ctr"/>
          <a:lstStyle/>
          <a:p>
            <a:pPr indent="0" marL="0">
              <a:buNone/>
            </a:pPr>
            <a:r>
              <a:rPr lang="en-US" sz="1400" b="1" dirty="0">
                <a:solidFill>
                  <a:srgbClr val="1D5BA6"/>
                </a:solidFill>
                <a:latin typeface="Arial" pitchFamily="34" charset="0"/>
                <a:ea typeface="Arial" pitchFamily="34" charset="-122"/>
                <a:cs typeface="Arial" pitchFamily="34" charset="-120"/>
              </a:rPr>
              <a:t>Heading hierarchy</a:t>
            </a:r>
            <a:endParaRPr lang="en-US" sz="1400" dirty="0"/>
          </a:p>
        </p:txBody>
      </p:sp>
      <p:sp>
        <p:nvSpPr>
          <p:cNvPr id="9" name="Text 7"/>
          <p:cNvSpPr/>
          <p:nvPr/>
        </p:nvSpPr>
        <p:spPr>
          <a:xfrm>
            <a:off x="457200" y="2779776"/>
            <a:ext cx="3931920" cy="548640"/>
          </a:xfrm>
          <a:prstGeom prst="rect">
            <a:avLst/>
          </a:prstGeom>
          <a:noFill/>
          <a:ln/>
        </p:spPr>
        <p:txBody>
          <a:bodyPr wrap="square" lIns="0" tIns="0" rIns="0" bIns="0" rtlCol="0" anchor="ctr"/>
          <a:lstStyle/>
          <a:p>
            <a:pPr indent="0" marL="0">
              <a:buNone/>
            </a:pPr>
            <a:r>
              <a:rPr lang="en-US" sz="1200" dirty="0">
                <a:solidFill>
                  <a:srgbClr val="5A6678"/>
                </a:solidFill>
                <a:latin typeface="Calibri" pitchFamily="34" charset="0"/>
                <a:ea typeface="Calibri" pitchFamily="34" charset="-122"/>
                <a:cs typeface="Calibri" pitchFamily="34" charset="-120"/>
              </a:rPr>
              <a:t>Exactly one h1 per page, ordered h2/h3 beneath it</a:t>
            </a:r>
            <a:endParaRPr lang="en-US" sz="1200" dirty="0"/>
          </a:p>
        </p:txBody>
      </p:sp>
      <p:sp>
        <p:nvSpPr>
          <p:cNvPr id="10" name="Text 8"/>
          <p:cNvSpPr/>
          <p:nvPr/>
        </p:nvSpPr>
        <p:spPr>
          <a:xfrm>
            <a:off x="4709160" y="2468880"/>
            <a:ext cx="3931920" cy="320040"/>
          </a:xfrm>
          <a:prstGeom prst="rect">
            <a:avLst/>
          </a:prstGeom>
          <a:noFill/>
          <a:ln/>
        </p:spPr>
        <p:txBody>
          <a:bodyPr wrap="square" lIns="0" tIns="0" rIns="0" bIns="0" rtlCol="0" anchor="ctr"/>
          <a:lstStyle/>
          <a:p>
            <a:pPr indent="0" marL="0">
              <a:buNone/>
            </a:pPr>
            <a:r>
              <a:rPr lang="en-US" sz="1400" b="1" dirty="0">
                <a:solidFill>
                  <a:srgbClr val="1D5BA6"/>
                </a:solidFill>
                <a:latin typeface="Arial" pitchFamily="34" charset="0"/>
                <a:ea typeface="Arial" pitchFamily="34" charset="-122"/>
                <a:cs typeface="Arial" pitchFamily="34" charset="-120"/>
              </a:rPr>
              <a:t>Optimised images</a:t>
            </a:r>
            <a:endParaRPr lang="en-US" sz="1400" dirty="0"/>
          </a:p>
        </p:txBody>
      </p:sp>
      <p:sp>
        <p:nvSpPr>
          <p:cNvPr id="11" name="Text 9"/>
          <p:cNvSpPr/>
          <p:nvPr/>
        </p:nvSpPr>
        <p:spPr>
          <a:xfrm>
            <a:off x="4709160" y="2779776"/>
            <a:ext cx="3931920" cy="548640"/>
          </a:xfrm>
          <a:prstGeom prst="rect">
            <a:avLst/>
          </a:prstGeom>
          <a:noFill/>
          <a:ln/>
        </p:spPr>
        <p:txBody>
          <a:bodyPr wrap="square" lIns="0" tIns="0" rIns="0" bIns="0" rtlCol="0" anchor="ctr"/>
          <a:lstStyle/>
          <a:p>
            <a:pPr indent="0" marL="0">
              <a:buNone/>
            </a:pPr>
            <a:r>
              <a:rPr lang="en-US" sz="1200" dirty="0">
                <a:solidFill>
                  <a:srgbClr val="5A6678"/>
                </a:solidFill>
                <a:latin typeface="Calibri" pitchFamily="34" charset="0"/>
                <a:ea typeface="Calibri" pitchFamily="34" charset="-122"/>
                <a:cs typeface="Calibri" pitchFamily="34" charset="-120"/>
              </a:rPr>
              <a:t>Web-scaled files, lazy loading below the fold</a:t>
            </a:r>
            <a:endParaRPr lang="en-US" sz="1200" dirty="0"/>
          </a:p>
        </p:txBody>
      </p:sp>
      <p:sp>
        <p:nvSpPr>
          <p:cNvPr id="12" name="Shape 10"/>
          <p:cNvSpPr/>
          <p:nvPr/>
        </p:nvSpPr>
        <p:spPr>
          <a:xfrm>
            <a:off x="457200" y="3520440"/>
            <a:ext cx="8229600" cy="1143000"/>
          </a:xfrm>
          <a:prstGeom prst="roundRect">
            <a:avLst>
              <a:gd name="adj" fmla="val 9600"/>
            </a:avLst>
          </a:prstGeom>
          <a:solidFill>
            <a:srgbClr val="182A45"/>
          </a:solidFill>
          <a:ln/>
        </p:spPr>
      </p:sp>
      <p:sp>
        <p:nvSpPr>
          <p:cNvPr id="13" name="Text 11"/>
          <p:cNvSpPr/>
          <p:nvPr/>
        </p:nvSpPr>
        <p:spPr>
          <a:xfrm>
            <a:off x="685800" y="3639312"/>
            <a:ext cx="7772400" cy="365760"/>
          </a:xfrm>
          <a:prstGeom prst="rect">
            <a:avLst/>
          </a:prstGeom>
          <a:noFill/>
          <a:ln/>
        </p:spPr>
        <p:txBody>
          <a:bodyPr wrap="square" lIns="0" tIns="0" rIns="0" bIns="0" rtlCol="0" anchor="ctr"/>
          <a:lstStyle/>
          <a:p>
            <a:pPr indent="0" marL="0">
              <a:buNone/>
            </a:pPr>
            <a:r>
              <a:rPr lang="en-US" sz="1500" b="1" dirty="0">
                <a:solidFill>
                  <a:srgbClr val="F4B331"/>
                </a:solidFill>
                <a:latin typeface="Arial" pitchFamily="34" charset="0"/>
                <a:ea typeface="Arial" pitchFamily="34" charset="-122"/>
                <a:cs typeface="Arial" pitchFamily="34" charset="-120"/>
              </a:rPr>
              <a:t>Deployed on GitHub Pages</a:t>
            </a:r>
            <a:endParaRPr lang="en-US" sz="1500" dirty="0"/>
          </a:p>
        </p:txBody>
      </p:sp>
      <p:sp>
        <p:nvSpPr>
          <p:cNvPr id="14" name="Text 12"/>
          <p:cNvSpPr/>
          <p:nvPr/>
        </p:nvSpPr>
        <p:spPr>
          <a:xfrm>
            <a:off x="685800" y="4005072"/>
            <a:ext cx="7772400" cy="5943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Code hosted in a public GitHub repository; the live site is served over real HTTP, which is what makes the Lighthouse audit and the collection video work exactly as they will for the marker.</a:t>
            </a:r>
            <a:endParaRPr lang="en-US" sz="1250" dirty="0"/>
          </a:p>
        </p:txBody>
      </p:sp>
      <p:sp>
        <p:nvSpPr>
          <p:cNvPr id="15" name="Text 13"/>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200" b="1" spc="200" kern="0" dirty="0">
                <a:solidFill>
                  <a:srgbClr val="1D5BA6"/>
                </a:solidFill>
                <a:latin typeface="Arial" pitchFamily="34" charset="0"/>
                <a:ea typeface="Arial" pitchFamily="34" charset="-122"/>
                <a:cs typeface="Arial" pitchFamily="34" charset="-120"/>
              </a:rPr>
              <a:t>REFLECTION</a:t>
            </a:r>
            <a:endParaRPr lang="en-US" sz="1200" dirty="0"/>
          </a:p>
        </p:txBody>
      </p:sp>
      <p:sp>
        <p:nvSpPr>
          <p:cNvPr id="3" name="Text 1"/>
          <p:cNvSpPr/>
          <p:nvPr/>
        </p:nvSpPr>
        <p:spPr>
          <a:xfrm>
            <a:off x="457200" y="530352"/>
            <a:ext cx="8229600" cy="640080"/>
          </a:xfrm>
          <a:prstGeom prst="rect">
            <a:avLst/>
          </a:prstGeom>
          <a:noFill/>
          <a:ln/>
        </p:spPr>
        <p:txBody>
          <a:bodyPr wrap="square" lIns="0" tIns="0" rIns="0" bIns="0" rtlCol="0" anchor="ctr"/>
          <a:lstStyle/>
          <a:p>
            <a:pPr indent="0" marL="0">
              <a:buNone/>
            </a:pPr>
            <a:r>
              <a:rPr lang="en-US" sz="3000" b="1" dirty="0">
                <a:solidFill>
                  <a:srgbClr val="182A45"/>
                </a:solidFill>
                <a:latin typeface="Arial" pitchFamily="34" charset="0"/>
                <a:ea typeface="Arial" pitchFamily="34" charset="-122"/>
                <a:cs typeface="Arial" pitchFamily="34" charset="-120"/>
              </a:rPr>
              <a:t>What I learned &amp; what I'd build next</a:t>
            </a:r>
            <a:endParaRPr lang="en-US" sz="3000" dirty="0"/>
          </a:p>
        </p:txBody>
      </p:sp>
      <p:sp>
        <p:nvSpPr>
          <p:cNvPr id="4" name="Text 2"/>
          <p:cNvSpPr/>
          <p:nvPr/>
        </p:nvSpPr>
        <p:spPr>
          <a:xfrm>
            <a:off x="457200" y="1371600"/>
            <a:ext cx="3931920" cy="365760"/>
          </a:xfrm>
          <a:prstGeom prst="rect">
            <a:avLst/>
          </a:prstGeom>
          <a:noFill/>
          <a:ln/>
        </p:spPr>
        <p:txBody>
          <a:bodyPr wrap="square" lIns="0" tIns="0" rIns="0" bIns="0" rtlCol="0" anchor="ctr"/>
          <a:lstStyle/>
          <a:p>
            <a:pPr indent="0" marL="0">
              <a:buNone/>
            </a:pPr>
            <a:r>
              <a:rPr lang="en-US" sz="1700" b="1" dirty="0">
                <a:solidFill>
                  <a:srgbClr val="1D5BA6"/>
                </a:solidFill>
                <a:latin typeface="Arial" pitchFamily="34" charset="0"/>
                <a:ea typeface="Arial" pitchFamily="34" charset="-122"/>
                <a:cs typeface="Arial" pitchFamily="34" charset="-120"/>
              </a:rPr>
              <a:t>What I learned</a:t>
            </a:r>
            <a:endParaRPr lang="en-US" sz="1700" dirty="0"/>
          </a:p>
        </p:txBody>
      </p:sp>
      <p:sp>
        <p:nvSpPr>
          <p:cNvPr id="5" name="Text 3"/>
          <p:cNvSpPr/>
          <p:nvPr/>
        </p:nvSpPr>
        <p:spPr>
          <a:xfrm>
            <a:off x="457200" y="1828800"/>
            <a:ext cx="3931920" cy="2651760"/>
          </a:xfrm>
          <a:prstGeom prst="rect">
            <a:avLst/>
          </a:prstGeom>
          <a:noFill/>
          <a:ln/>
        </p:spPr>
        <p:txBody>
          <a:bodyPr wrap="square" lIns="0" tIns="0" rIns="0" bIns="0" rtlCol="0" anchor="ctr"/>
          <a:lstStyle/>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Mobile-first genuinely simplifies CSS — desktop became the enhancement, not the battle.</a:t>
            </a:r>
            <a:endParaRPr lang="en-US" sz="1300" dirty="0"/>
          </a:p>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Event delegation beats per-button listeners for maintainability.</a:t>
            </a:r>
            <a:endParaRPr lang="en-US" sz="1300" dirty="0"/>
          </a:p>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Accessibility is cheapest when designed in from the first line.</a:t>
            </a:r>
            <a:endParaRPr lang="en-US" sz="1300" dirty="0"/>
          </a:p>
        </p:txBody>
      </p:sp>
      <p:sp>
        <p:nvSpPr>
          <p:cNvPr id="6" name="Text 4"/>
          <p:cNvSpPr/>
          <p:nvPr/>
        </p:nvSpPr>
        <p:spPr>
          <a:xfrm>
            <a:off x="4754880" y="1371600"/>
            <a:ext cx="3931920" cy="365760"/>
          </a:xfrm>
          <a:prstGeom prst="rect">
            <a:avLst/>
          </a:prstGeom>
          <a:noFill/>
          <a:ln/>
        </p:spPr>
        <p:txBody>
          <a:bodyPr wrap="square" lIns="0" tIns="0" rIns="0" bIns="0" rtlCol="0" anchor="ctr"/>
          <a:lstStyle/>
          <a:p>
            <a:pPr indent="0" marL="0">
              <a:buNone/>
            </a:pPr>
            <a:r>
              <a:rPr lang="en-US" sz="1700" b="1" dirty="0">
                <a:solidFill>
                  <a:srgbClr val="E85D4A"/>
                </a:solidFill>
                <a:latin typeface="Arial" pitchFamily="34" charset="0"/>
                <a:ea typeface="Arial" pitchFamily="34" charset="-122"/>
                <a:cs typeface="Arial" pitchFamily="34" charset="-120"/>
              </a:rPr>
              <a:t>Next iteration</a:t>
            </a:r>
            <a:endParaRPr lang="en-US" sz="1700" dirty="0"/>
          </a:p>
        </p:txBody>
      </p:sp>
      <p:sp>
        <p:nvSpPr>
          <p:cNvPr id="7" name="Text 5"/>
          <p:cNvSpPr/>
          <p:nvPr/>
        </p:nvSpPr>
        <p:spPr>
          <a:xfrm>
            <a:off x="4754880" y="1828800"/>
            <a:ext cx="3931920" cy="2651760"/>
          </a:xfrm>
          <a:prstGeom prst="rect">
            <a:avLst/>
          </a:prstGeom>
          <a:noFill/>
          <a:ln/>
        </p:spPr>
        <p:txBody>
          <a:bodyPr wrap="square" lIns="0" tIns="0" rIns="0" bIns="0" rtlCol="0" anchor="ctr"/>
          <a:lstStyle/>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Product detail views with size guides and lens specs.</a:t>
            </a:r>
            <a:endParaRPr lang="en-US" sz="1300" dirty="0"/>
          </a:p>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A checkout form with full validation (the pattern already exists in contact.html).</a:t>
            </a:r>
            <a:endParaRPr lang="en-US" sz="1300" dirty="0"/>
          </a:p>
          <a:p>
            <a:pPr marL="152400" indent="-152400">
              <a:spcAft>
                <a:spcPts val="1000"/>
              </a:spcAft>
              <a:buSzPct val="100000"/>
              <a:buChar char="•"/>
            </a:pPr>
            <a:r>
              <a:rPr lang="en-US" sz="1300" dirty="0">
                <a:solidFill>
                  <a:srgbClr val="182A45"/>
                </a:solidFill>
                <a:latin typeface="Calibri" pitchFamily="34" charset="0"/>
                <a:ea typeface="Calibri" pitchFamily="34" charset="-122"/>
                <a:cs typeface="Calibri" pitchFamily="34" charset="-120"/>
              </a:rPr>
              <a:t>Search box alongside the category filters.</a:t>
            </a:r>
            <a:endParaRPr lang="en-US" sz="1300" dirty="0"/>
          </a:p>
        </p:txBody>
      </p:sp>
      <p:sp>
        <p:nvSpPr>
          <p:cNvPr id="8" name="Text 6"/>
          <p:cNvSpPr/>
          <p:nvPr/>
        </p:nvSpPr>
        <p:spPr>
          <a:xfrm>
            <a:off x="8641080" y="4800600"/>
            <a:ext cx="365760" cy="274320"/>
          </a:xfrm>
          <a:prstGeom prst="rect">
            <a:avLst/>
          </a:prstGeom>
          <a:noFill/>
          <a:ln/>
        </p:spPr>
        <p:txBody>
          <a:bodyPr wrap="square" lIns="0" tIns="0" rIns="0" bIns="0" rtlCol="0" anchor="ctr"/>
          <a:lstStyle/>
          <a:p>
            <a:pPr algn="r" indent="0" marL="0">
              <a:buNone/>
            </a:pPr>
            <a:r>
              <a:rPr lang="en-US" sz="1000" dirty="0">
                <a:solidFill>
                  <a:srgbClr val="5A667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2A45"/>
        </a:solidFill>
      </p:bgPr>
    </p:bg>
    <p:spTree>
      <p:nvGrpSpPr>
        <p:cNvPr id="1" name=""/>
        <p:cNvGrpSpPr/>
        <p:nvPr/>
      </p:nvGrpSpPr>
      <p:grpSpPr>
        <a:xfrm>
          <a:off x="0" y="0"/>
          <a:ext cx="0" cy="0"/>
          <a:chOff x="0" y="0"/>
          <a:chExt cx="0" cy="0"/>
        </a:xfrm>
      </p:grpSpPr>
      <p:sp>
        <p:nvSpPr>
          <p:cNvPr id="2" name="Shape 0"/>
          <p:cNvSpPr/>
          <p:nvPr/>
        </p:nvSpPr>
        <p:spPr>
          <a:xfrm>
            <a:off x="-1645920" y="3108960"/>
            <a:ext cx="4754880" cy="4754880"/>
          </a:xfrm>
          <a:prstGeom prst="ellipse">
            <a:avLst/>
          </a:prstGeom>
          <a:solidFill>
            <a:srgbClr val="F4B331">
              <a:alpha val="18000"/>
            </a:srgbClr>
          </a:solidFill>
          <a:ln/>
        </p:spPr>
      </p:sp>
      <p:sp>
        <p:nvSpPr>
          <p:cNvPr id="3" name="Shape 1"/>
          <p:cNvSpPr/>
          <p:nvPr/>
        </p:nvSpPr>
        <p:spPr>
          <a:xfrm>
            <a:off x="-914400" y="3840480"/>
            <a:ext cx="3291840" cy="3291840"/>
          </a:xfrm>
          <a:prstGeom prst="ellipse">
            <a:avLst/>
          </a:prstGeom>
          <a:solidFill>
            <a:srgbClr val="F4B331">
              <a:alpha val="40000"/>
            </a:srgbClr>
          </a:solidFill>
          <a:ln/>
        </p:spPr>
      </p:sp>
      <p:sp>
        <p:nvSpPr>
          <p:cNvPr id="4" name="Text 2"/>
          <p:cNvSpPr/>
          <p:nvPr/>
        </p:nvSpPr>
        <p:spPr>
          <a:xfrm>
            <a:off x="548640" y="640080"/>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Learning outcomes, delivered</a:t>
            </a:r>
            <a:endParaRPr lang="en-US" sz="3000" dirty="0"/>
          </a:p>
        </p:txBody>
      </p:sp>
      <p:sp>
        <p:nvSpPr>
          <p:cNvPr id="5" name="Shape 3"/>
          <p:cNvSpPr/>
          <p:nvPr/>
        </p:nvSpPr>
        <p:spPr>
          <a:xfrm>
            <a:off x="548640" y="1417320"/>
            <a:ext cx="777240" cy="502920"/>
          </a:xfrm>
          <a:prstGeom prst="roundRect">
            <a:avLst>
              <a:gd name="adj" fmla="val 18182"/>
            </a:avLst>
          </a:prstGeom>
          <a:solidFill>
            <a:srgbClr val="F4B331"/>
          </a:solidFill>
          <a:ln/>
        </p:spPr>
      </p:sp>
      <p:sp>
        <p:nvSpPr>
          <p:cNvPr id="6" name="Text 4"/>
          <p:cNvSpPr/>
          <p:nvPr/>
        </p:nvSpPr>
        <p:spPr>
          <a:xfrm>
            <a:off x="548640" y="1463040"/>
            <a:ext cx="777240" cy="411480"/>
          </a:xfrm>
          <a:prstGeom prst="rect">
            <a:avLst/>
          </a:prstGeom>
          <a:noFill/>
          <a:ln/>
        </p:spPr>
        <p:txBody>
          <a:bodyPr wrap="square" lIns="0" tIns="0" rIns="0" bIns="0" rtlCol="0" anchor="ctr"/>
          <a:lstStyle/>
          <a:p>
            <a:pPr algn="ctr" indent="0" marL="0">
              <a:buNone/>
            </a:pPr>
            <a:r>
              <a:rPr lang="en-US" sz="1500" b="1" dirty="0">
                <a:solidFill>
                  <a:srgbClr val="182A45"/>
                </a:solidFill>
                <a:latin typeface="Arial" pitchFamily="34" charset="0"/>
                <a:ea typeface="Arial" pitchFamily="34" charset="-122"/>
                <a:cs typeface="Arial" pitchFamily="34" charset="-120"/>
              </a:rPr>
              <a:t>LO1</a:t>
            </a:r>
            <a:endParaRPr lang="en-US" sz="1500" dirty="0"/>
          </a:p>
        </p:txBody>
      </p:sp>
      <p:sp>
        <p:nvSpPr>
          <p:cNvPr id="7" name="Text 5"/>
          <p:cNvSpPr/>
          <p:nvPr/>
        </p:nvSpPr>
        <p:spPr>
          <a:xfrm>
            <a:off x="1554480" y="1435608"/>
            <a:ext cx="6949440" cy="502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Web pages built with valid, semantic HTML &amp; hand-written CSS</a:t>
            </a:r>
            <a:endParaRPr lang="en-US" sz="1450" dirty="0"/>
          </a:p>
        </p:txBody>
      </p:sp>
      <p:sp>
        <p:nvSpPr>
          <p:cNvPr id="8" name="Shape 6"/>
          <p:cNvSpPr/>
          <p:nvPr/>
        </p:nvSpPr>
        <p:spPr>
          <a:xfrm>
            <a:off x="548640" y="2167128"/>
            <a:ext cx="777240" cy="502920"/>
          </a:xfrm>
          <a:prstGeom prst="roundRect">
            <a:avLst>
              <a:gd name="adj" fmla="val 18182"/>
            </a:avLst>
          </a:prstGeom>
          <a:solidFill>
            <a:srgbClr val="F4B331"/>
          </a:solidFill>
          <a:ln/>
        </p:spPr>
      </p:sp>
      <p:sp>
        <p:nvSpPr>
          <p:cNvPr id="9" name="Text 7"/>
          <p:cNvSpPr/>
          <p:nvPr/>
        </p:nvSpPr>
        <p:spPr>
          <a:xfrm>
            <a:off x="548640" y="2212848"/>
            <a:ext cx="777240" cy="411480"/>
          </a:xfrm>
          <a:prstGeom prst="rect">
            <a:avLst/>
          </a:prstGeom>
          <a:noFill/>
          <a:ln/>
        </p:spPr>
        <p:txBody>
          <a:bodyPr wrap="square" lIns="0" tIns="0" rIns="0" bIns="0" rtlCol="0" anchor="ctr"/>
          <a:lstStyle/>
          <a:p>
            <a:pPr algn="ctr" indent="0" marL="0">
              <a:buNone/>
            </a:pPr>
            <a:r>
              <a:rPr lang="en-US" sz="1500" b="1" dirty="0">
                <a:solidFill>
                  <a:srgbClr val="182A45"/>
                </a:solidFill>
                <a:latin typeface="Arial" pitchFamily="34" charset="0"/>
                <a:ea typeface="Arial" pitchFamily="34" charset="-122"/>
                <a:cs typeface="Arial" pitchFamily="34" charset="-120"/>
              </a:rPr>
              <a:t>LO2</a:t>
            </a:r>
            <a:endParaRPr lang="en-US" sz="1500" dirty="0"/>
          </a:p>
        </p:txBody>
      </p:sp>
      <p:sp>
        <p:nvSpPr>
          <p:cNvPr id="10" name="Text 8"/>
          <p:cNvSpPr/>
          <p:nvPr/>
        </p:nvSpPr>
        <p:spPr>
          <a:xfrm>
            <a:off x="1554480" y="2185416"/>
            <a:ext cx="6949440" cy="502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Client-side scripting: basket, filters, validation — DOM only</a:t>
            </a:r>
            <a:endParaRPr lang="en-US" sz="1450" dirty="0"/>
          </a:p>
        </p:txBody>
      </p:sp>
      <p:sp>
        <p:nvSpPr>
          <p:cNvPr id="11" name="Shape 9"/>
          <p:cNvSpPr/>
          <p:nvPr/>
        </p:nvSpPr>
        <p:spPr>
          <a:xfrm>
            <a:off x="548640" y="2916936"/>
            <a:ext cx="777240" cy="502920"/>
          </a:xfrm>
          <a:prstGeom prst="roundRect">
            <a:avLst>
              <a:gd name="adj" fmla="val 18182"/>
            </a:avLst>
          </a:prstGeom>
          <a:solidFill>
            <a:srgbClr val="F4B331"/>
          </a:solidFill>
          <a:ln/>
        </p:spPr>
      </p:sp>
      <p:sp>
        <p:nvSpPr>
          <p:cNvPr id="12" name="Text 10"/>
          <p:cNvSpPr/>
          <p:nvPr/>
        </p:nvSpPr>
        <p:spPr>
          <a:xfrm>
            <a:off x="548640" y="2962656"/>
            <a:ext cx="777240" cy="411480"/>
          </a:xfrm>
          <a:prstGeom prst="rect">
            <a:avLst/>
          </a:prstGeom>
          <a:noFill/>
          <a:ln/>
        </p:spPr>
        <p:txBody>
          <a:bodyPr wrap="square" lIns="0" tIns="0" rIns="0" bIns="0" rtlCol="0" anchor="ctr"/>
          <a:lstStyle/>
          <a:p>
            <a:pPr algn="ctr" indent="0" marL="0">
              <a:buNone/>
            </a:pPr>
            <a:r>
              <a:rPr lang="en-US" sz="1500" b="1" dirty="0">
                <a:solidFill>
                  <a:srgbClr val="182A45"/>
                </a:solidFill>
                <a:latin typeface="Arial" pitchFamily="34" charset="0"/>
                <a:ea typeface="Arial" pitchFamily="34" charset="-122"/>
                <a:cs typeface="Arial" pitchFamily="34" charset="-120"/>
              </a:rPr>
              <a:t>LO3</a:t>
            </a:r>
            <a:endParaRPr lang="en-US" sz="1500" dirty="0"/>
          </a:p>
        </p:txBody>
      </p:sp>
      <p:sp>
        <p:nvSpPr>
          <p:cNvPr id="13" name="Text 11"/>
          <p:cNvSpPr/>
          <p:nvPr/>
        </p:nvSpPr>
        <p:spPr>
          <a:xfrm>
            <a:off x="1554480" y="2935224"/>
            <a:ext cx="6949440" cy="502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Mobile-first responsive layouts across three breakpoints</a:t>
            </a:r>
            <a:endParaRPr lang="en-US" sz="1450" dirty="0"/>
          </a:p>
        </p:txBody>
      </p:sp>
      <p:sp>
        <p:nvSpPr>
          <p:cNvPr id="14" name="Shape 12"/>
          <p:cNvSpPr/>
          <p:nvPr/>
        </p:nvSpPr>
        <p:spPr>
          <a:xfrm>
            <a:off x="548640" y="3666744"/>
            <a:ext cx="777240" cy="502920"/>
          </a:xfrm>
          <a:prstGeom prst="roundRect">
            <a:avLst>
              <a:gd name="adj" fmla="val 18182"/>
            </a:avLst>
          </a:prstGeom>
          <a:solidFill>
            <a:srgbClr val="F4B331"/>
          </a:solidFill>
          <a:ln/>
        </p:spPr>
      </p:sp>
      <p:sp>
        <p:nvSpPr>
          <p:cNvPr id="15" name="Text 13"/>
          <p:cNvSpPr/>
          <p:nvPr/>
        </p:nvSpPr>
        <p:spPr>
          <a:xfrm>
            <a:off x="548640" y="3712464"/>
            <a:ext cx="777240" cy="411480"/>
          </a:xfrm>
          <a:prstGeom prst="rect">
            <a:avLst/>
          </a:prstGeom>
          <a:noFill/>
          <a:ln/>
        </p:spPr>
        <p:txBody>
          <a:bodyPr wrap="square" lIns="0" tIns="0" rIns="0" bIns="0" rtlCol="0" anchor="ctr"/>
          <a:lstStyle/>
          <a:p>
            <a:pPr algn="ctr" indent="0" marL="0">
              <a:buNone/>
            </a:pPr>
            <a:r>
              <a:rPr lang="en-US" sz="1500" b="1" dirty="0">
                <a:solidFill>
                  <a:srgbClr val="182A45"/>
                </a:solidFill>
                <a:latin typeface="Arial" pitchFamily="34" charset="0"/>
                <a:ea typeface="Arial" pitchFamily="34" charset="-122"/>
                <a:cs typeface="Arial" pitchFamily="34" charset="-120"/>
              </a:rPr>
              <a:t>LO4</a:t>
            </a:r>
            <a:endParaRPr lang="en-US" sz="1500" dirty="0"/>
          </a:p>
        </p:txBody>
      </p:sp>
      <p:sp>
        <p:nvSpPr>
          <p:cNvPr id="16" name="Text 14"/>
          <p:cNvSpPr/>
          <p:nvPr/>
        </p:nvSpPr>
        <p:spPr>
          <a:xfrm>
            <a:off x="1554480" y="3685032"/>
            <a:ext cx="6949440" cy="502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Accessibility, UX, SEO, GitHub Pages deployment &amp; audited best practices</a:t>
            </a:r>
            <a:endParaRPr lang="en-US" sz="1450" dirty="0"/>
          </a:p>
        </p:txBody>
      </p:sp>
      <p:sp>
        <p:nvSpPr>
          <p:cNvPr id="17" name="Text 15"/>
          <p:cNvSpPr/>
          <p:nvPr/>
        </p:nvSpPr>
        <p:spPr>
          <a:xfrm>
            <a:off x="548640" y="4572000"/>
            <a:ext cx="8046720" cy="365760"/>
          </a:xfrm>
          <a:prstGeom prst="rect">
            <a:avLst/>
          </a:prstGeom>
          <a:noFill/>
          <a:ln/>
        </p:spPr>
        <p:txBody>
          <a:bodyPr wrap="square" lIns="0" tIns="0" rIns="0" bIns="0" rtlCol="0" anchor="ctr"/>
          <a:lstStyle/>
          <a:p>
            <a:pPr indent="0" marL="0">
              <a:buNone/>
            </a:pPr>
            <a:r>
              <a:rPr lang="en-US" sz="1400" i="1" dirty="0">
                <a:solidFill>
                  <a:srgbClr val="F4B331"/>
                </a:solidFill>
                <a:latin typeface="Calibri" pitchFamily="34" charset="0"/>
                <a:ea typeface="Calibri" pitchFamily="34" charset="-122"/>
                <a:cs typeface="Calibri" pitchFamily="34" charset="-120"/>
              </a:rPr>
              <a:t>Gracias — thank you for watching.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2026-08-07T08:22:35Z</dcterms:created>
  <dcterms:modified xsi:type="dcterms:W3CDTF">2026-08-07T08:22:35Z</dcterms:modified>
</cp:coreProperties>
</file>